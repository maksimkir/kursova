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5"/>
    <p:sldId id="270" r:id="rId16"/>
    <p:sldId id="268" r:id="rId17"/>
    <p:sldId id="269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 showGuides="1">
      <p:cViewPr varScale="1">
        <p:scale>
          <a:sx n="92" d="100"/>
          <a:sy n="92" d="100"/>
        </p:scale>
        <p:origin x="1186" y="101"/>
      </p:cViewPr>
      <p:guideLst>
        <p:guide orient="horz" pos="2160"/>
        <p:guide pos="29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BBFC75-8165-4E25-8EDD-59ED2BB2BB35}" type="datetimeFigureOut">
              <a:rPr lang="uk-UA" smtClean="0"/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  <a:endParaRPr lang="uk-UA"/>
          </a:p>
          <a:p>
            <a:pPr lvl="1"/>
            <a:r>
              <a:rPr lang="uk-UA"/>
              <a:t>Другий рівень</a:t>
            </a:r>
            <a:endParaRPr lang="uk-UA"/>
          </a:p>
          <a:p>
            <a:pPr lvl="2"/>
            <a:r>
              <a:rPr lang="uk-UA"/>
              <a:t>Третій рівень</a:t>
            </a:r>
            <a:endParaRPr lang="uk-UA"/>
          </a:p>
          <a:p>
            <a:pPr lvl="3"/>
            <a:r>
              <a:rPr lang="uk-UA"/>
              <a:t>Четвертий рівень</a:t>
            </a:r>
            <a:endParaRPr lang="uk-UA"/>
          </a:p>
          <a:p>
            <a:pPr lvl="4"/>
            <a:r>
              <a:rPr lang="uk-UA"/>
              <a:t>П’ятий рівень</a:t>
            </a:r>
            <a:endParaRPr lang="uk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3600" b="1" dirty="0"/>
              <a:t>КУРСОВИЙ ПРОЄКТ</a:t>
            </a:r>
            <a:br>
              <a:rPr lang="ru-RU" sz="3600" b="1" dirty="0"/>
            </a:br>
            <a:r>
              <a:rPr lang="ru-RU" sz="3600" b="1" dirty="0"/>
              <a:t>на тему: </a:t>
            </a:r>
            <a:r>
              <a:rPr lang="uk-UA" altLang="ru-RU" sz="3600" b="1" dirty="0"/>
              <a:t>Система втоматизації складу товарів</a:t>
            </a:r>
            <a:endParaRPr lang="uk-UA" altLang="ru-RU" sz="36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ru-RU" sz="4500" dirty="0">
                <a:solidFill>
                  <a:schemeClr val="tx1"/>
                </a:solidFill>
              </a:rPr>
              <a:t>з </a:t>
            </a:r>
            <a:r>
              <a:rPr lang="ru-RU" sz="4500" dirty="0" err="1">
                <a:solidFill>
                  <a:schemeClr val="tx1"/>
                </a:solidFill>
              </a:rPr>
              <a:t>дисципліни</a:t>
            </a:r>
            <a:br>
              <a:rPr lang="ru-RU" sz="4500" dirty="0">
                <a:solidFill>
                  <a:schemeClr val="tx1"/>
                </a:solidFill>
              </a:rPr>
            </a:br>
            <a:r>
              <a:rPr lang="ru-RU" sz="4500" dirty="0">
                <a:solidFill>
                  <a:schemeClr val="tx1"/>
                </a:solidFill>
              </a:rPr>
              <a:t>СТРУКТУРИ ДАНИХ, АЛГОРИТМИ</a:t>
            </a:r>
            <a:endParaRPr lang="ru-RU" sz="4500" dirty="0">
              <a:solidFill>
                <a:schemeClr val="tx1"/>
              </a:solidFill>
            </a:endParaRPr>
          </a:p>
          <a:p>
            <a:r>
              <a:rPr lang="ru-RU" sz="4500" dirty="0">
                <a:solidFill>
                  <a:schemeClr val="tx1"/>
                </a:solidFill>
              </a:rPr>
              <a:t>ТА ОБ’ЄКТНО-ОРІЄНТОВАНА ПАРАДИГМА</a:t>
            </a:r>
            <a:endParaRPr lang="ru-RU" sz="4500" dirty="0">
              <a:solidFill>
                <a:schemeClr val="tx1"/>
              </a:solidFill>
            </a:endParaRPr>
          </a:p>
          <a:p>
            <a:br>
              <a:rPr lang="ru-RU" sz="4500" dirty="0">
                <a:solidFill>
                  <a:schemeClr val="tx1"/>
                </a:solidFill>
              </a:rPr>
            </a:br>
            <a:br>
              <a:rPr lang="ru-RU" dirty="0"/>
            </a:br>
            <a:endParaRPr lang="ru-RU" dirty="0"/>
          </a:p>
          <a:p>
            <a:pPr algn="r"/>
            <a:br>
              <a:rPr lang="ru-RU" dirty="0"/>
            </a:br>
            <a:r>
              <a:rPr lang="ru-RU" dirty="0"/>
              <a:t>                                                            </a:t>
            </a:r>
            <a:r>
              <a:rPr lang="ru-RU" sz="4400" dirty="0" err="1">
                <a:solidFill>
                  <a:schemeClr val="tx1"/>
                </a:solidFill>
              </a:rPr>
              <a:t>Викона</a:t>
            </a:r>
            <a:r>
              <a:rPr lang="uk-UA" sz="4400" dirty="0">
                <a:solidFill>
                  <a:schemeClr val="tx1"/>
                </a:solidFill>
              </a:rPr>
              <a:t>вець</a:t>
            </a:r>
            <a:r>
              <a:rPr lang="en-US" sz="4400" dirty="0">
                <a:solidFill>
                  <a:schemeClr val="tx1"/>
                </a:solidFill>
              </a:rPr>
              <a:t>:</a:t>
            </a:r>
            <a:r>
              <a:rPr lang="uk-UA" sz="4400" dirty="0">
                <a:solidFill>
                  <a:schemeClr val="tx1"/>
                </a:solidFill>
              </a:rPr>
              <a:t> Кирилюк Максим Олександрович</a:t>
            </a:r>
            <a:endParaRPr lang="uk-UA" sz="4400" dirty="0">
              <a:solidFill>
                <a:schemeClr val="tx1"/>
              </a:solidFill>
            </a:endParaRPr>
          </a:p>
          <a:p>
            <a:pPr algn="r"/>
            <a:endParaRPr lang="ru-RU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468560" y="260648"/>
            <a:ext cx="10009112" cy="1470025"/>
          </a:xfrm>
        </p:spPr>
        <p:txBody>
          <a:bodyPr>
            <a:normAutofit/>
          </a:bodyPr>
          <a:lstStyle/>
          <a:p>
            <a:r>
              <a:rPr lang="ru-RU" sz="4000" b="1" dirty="0"/>
              <a:t>Мета </a:t>
            </a:r>
            <a:r>
              <a:rPr lang="ru-RU" sz="4000" b="1" dirty="0" err="1"/>
              <a:t>роботи</a:t>
            </a:r>
            <a:r>
              <a:rPr lang="ru-RU" sz="4000" b="1" dirty="0"/>
              <a:t> та постановка </a:t>
            </a:r>
            <a:r>
              <a:rPr lang="ru-RU" sz="4000" b="1" dirty="0" err="1"/>
              <a:t>задачі</a:t>
            </a:r>
            <a:endParaRPr lang="ru-RU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700808"/>
            <a:ext cx="8424936" cy="5400600"/>
          </a:xfrm>
        </p:spPr>
        <p:txBody>
          <a:bodyPr>
            <a:normAutofit/>
          </a:bodyPr>
          <a:lstStyle/>
          <a:p>
            <a:pPr algn="l"/>
            <a:r>
              <a:rPr lang="uk-UA" sz="2000" b="1" dirty="0">
                <a:solidFill>
                  <a:schemeClr val="tx1"/>
                </a:solidFill>
              </a:rPr>
              <a:t>Мета роботи </a:t>
            </a:r>
            <a:r>
              <a:rPr lang="uk-UA" sz="2000" dirty="0">
                <a:solidFill>
                  <a:schemeClr val="tx1"/>
                </a:solidFill>
              </a:rPr>
              <a:t>полягає у розробці консольного інструмента для електронного кадрового обліку. Демонстрація практичного застосування Обєктно-орієнтованого програмування (ООП та ефективного використання Структур Даних (</a:t>
            </a:r>
            <a:r>
              <a:rPr lang="en-US" sz="2000" dirty="0">
                <a:solidFill>
                  <a:schemeClr val="tx1"/>
                </a:solidFill>
              </a:rPr>
              <a:t>STL)</a:t>
            </a:r>
            <a:r>
              <a:rPr lang="uk-UA" altLang="en-US" sz="2000" dirty="0">
                <a:solidFill>
                  <a:schemeClr val="tx1"/>
                </a:solidFill>
              </a:rPr>
              <a:t>.</a:t>
            </a:r>
            <a:endParaRPr lang="ru-RU" sz="2000" dirty="0">
              <a:solidFill>
                <a:schemeClr val="tx1"/>
              </a:solidFill>
            </a:endParaRPr>
          </a:p>
          <a:p>
            <a:pPr algn="l"/>
            <a:endParaRPr lang="en-US" sz="2000" dirty="0">
              <a:solidFill>
                <a:schemeClr val="tx1"/>
              </a:solidFill>
            </a:endParaRPr>
          </a:p>
          <a:p>
            <a:pPr algn="l"/>
            <a:r>
              <a:rPr lang="ru-RU" sz="2000" u="sng" dirty="0">
                <a:solidFill>
                  <a:schemeClr val="tx1"/>
                </a:solidFill>
              </a:rPr>
              <a:t>Постановка </a:t>
            </a:r>
            <a:r>
              <a:rPr lang="ru-RU" sz="2000" u="sng" dirty="0" err="1">
                <a:solidFill>
                  <a:schemeClr val="tx1"/>
                </a:solidFill>
              </a:rPr>
              <a:t>задачі</a:t>
            </a:r>
            <a:r>
              <a:rPr lang="ru-RU" sz="2000" u="sng" dirty="0">
                <a:solidFill>
                  <a:schemeClr val="tx1"/>
                </a:solidFill>
              </a:rPr>
              <a:t>: </a:t>
            </a:r>
            <a:endParaRPr 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endParaRPr 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r>
              <a:rPr lang="uk-UA" altLang="ru-RU" sz="2000" dirty="0">
                <a:solidFill>
                  <a:schemeClr val="tx1"/>
                </a:solidFill>
              </a:rPr>
              <a:t>В базу даних заносяться дані про товар: ціна, залишок, дата завезення.</a:t>
            </a:r>
            <a:endParaRPr lang="uk-UA" alt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r>
              <a:rPr lang="uk-UA" altLang="ru-RU" sz="2000" dirty="0">
                <a:solidFill>
                  <a:schemeClr val="tx1"/>
                </a:solidFill>
              </a:rPr>
              <a:t>Результати пошуку товару та сортування  та фільтрацію за різними параметрами.</a:t>
            </a:r>
            <a:endParaRPr lang="uk-UA" alt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7544" y="69269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Вихідні</a:t>
            </a:r>
            <a:r>
              <a:rPr lang="ru-RU" b="1" dirty="0"/>
              <a:t> </a:t>
            </a:r>
            <a:r>
              <a:rPr lang="ru-RU" b="1" dirty="0" err="1"/>
              <a:t>дані</a:t>
            </a:r>
            <a:r>
              <a:rPr lang="ru-RU" b="1" dirty="0"/>
              <a:t> до </a:t>
            </a:r>
            <a:r>
              <a:rPr lang="ru-RU" b="1" dirty="0" err="1"/>
              <a:t>проєкту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772816"/>
            <a:ext cx="8496944" cy="5688632"/>
          </a:xfrm>
        </p:spPr>
        <p:txBody>
          <a:bodyPr>
            <a:normAutofit/>
          </a:bodyPr>
          <a:lstStyle/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Створити базу даних –</a:t>
            </a:r>
            <a:r>
              <a:rPr lang="en-US" sz="2000" dirty="0">
                <a:solidFill>
                  <a:schemeClr val="tx1"/>
                </a:solidFill>
              </a:rPr>
              <a:t>Csv file</a:t>
            </a:r>
            <a:r>
              <a:rPr lang="uk-UA" sz="2000" dirty="0">
                <a:solidFill>
                  <a:schemeClr val="tx1"/>
                </a:solidFill>
              </a:rPr>
              <a:t>, в який будуть вноситись дані про авто;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ввід та вивід даних через консоль;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Розробити консольне меню, для виконання функцій програми (додавання, редагування, видалення, перегляд);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сортування та фільтрацію записів з бази даних;</a:t>
            </a:r>
            <a:endParaRPr lang="ru-RU" sz="2000" dirty="0">
              <a:solidFill>
                <a:schemeClr val="tx1"/>
              </a:solidFill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перевірку коректності вводу даних .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476672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Модулі</a:t>
            </a:r>
            <a:r>
              <a:rPr lang="ru-RU" b="1" dirty="0"/>
              <a:t> (</a:t>
            </a:r>
            <a:r>
              <a:rPr lang="ru-RU" b="1" dirty="0" err="1"/>
              <a:t>класи</a:t>
            </a:r>
            <a:r>
              <a:rPr lang="ru-RU" b="1" dirty="0"/>
              <a:t>) </a:t>
            </a:r>
            <a:r>
              <a:rPr lang="ru-RU" b="1" dirty="0" err="1"/>
              <a:t>програми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568952" cy="5688632"/>
          </a:xfrm>
        </p:spPr>
        <p:txBody>
          <a:bodyPr>
            <a:normAutofit fontScale="50000"/>
          </a:bodyPr>
          <a:lstStyle/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Product / StoreItem</a:t>
            </a:r>
            <a:r>
              <a:rPr lang="uk-UA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б</a:t>
            </a:r>
            <a:r>
              <a:rPr lang="en-US" altLang="en-US" dirty="0">
                <a:solidFill>
                  <a:schemeClr val="tx1"/>
                </a:solidFill>
              </a:rPr>
              <a:t>азова сутність. Моделює одиничний товар на складі</a:t>
            </a:r>
            <a:r>
              <a:rPr lang="uk-UA" dirty="0">
                <a:solidFill>
                  <a:schemeClr val="tx1"/>
                </a:solidFill>
              </a:rPr>
              <a:t>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StoreManager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en-US" altLang="en-US" dirty="0">
                <a:solidFill>
                  <a:schemeClr val="tx1"/>
                </a:solidFill>
              </a:rPr>
              <a:t>Керування колекцією товарів. Реалізує бізнес-логіку: CRUD-операції, завантаження/збереження, пошук, сортування та фільтрація.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IPrintable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altLang="en-US" dirty="0">
                <a:solidFill>
                  <a:schemeClr val="tx1"/>
                </a:solidFill>
              </a:rPr>
              <a:t>і</a:t>
            </a:r>
            <a:r>
              <a:rPr lang="en-US" altLang="en-US" dirty="0">
                <a:solidFill>
                  <a:schemeClr val="tx1"/>
                </a:solidFill>
              </a:rPr>
              <a:t>нтерфейс</a:t>
            </a:r>
            <a:r>
              <a:rPr lang="uk-UA" altLang="en-US" dirty="0">
                <a:solidFill>
                  <a:schemeClr val="tx1"/>
                </a:solidFill>
              </a:rPr>
              <a:t>, в</a:t>
            </a:r>
            <a:r>
              <a:rPr lang="en-US" altLang="en-US" dirty="0">
                <a:solidFill>
                  <a:schemeClr val="tx1"/>
                </a:solidFill>
              </a:rPr>
              <a:t>изначає контракт для поліморфного виводу та запису в БД.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User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altLang="en-US" dirty="0">
                <a:solidFill>
                  <a:schemeClr val="tx1"/>
                </a:solidFill>
              </a:rPr>
              <a:t>б</a:t>
            </a:r>
            <a:r>
              <a:rPr lang="en-US" altLang="en-US" dirty="0">
                <a:solidFill>
                  <a:schemeClr val="tx1"/>
                </a:solidFill>
              </a:rPr>
              <a:t>азовий клас користувача</a:t>
            </a:r>
            <a:r>
              <a:rPr lang="uk-UA" altLang="en-US" dirty="0">
                <a:solidFill>
                  <a:schemeClr val="tx1"/>
                </a:solidFill>
              </a:rPr>
              <a:t>,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r>
              <a:rPr lang="uk-UA" altLang="en-US" dirty="0">
                <a:solidFill>
                  <a:schemeClr val="tx1"/>
                </a:solidFill>
              </a:rPr>
              <a:t>м</a:t>
            </a:r>
            <a:r>
              <a:rPr lang="en-US" altLang="en-US" dirty="0">
                <a:solidFill>
                  <a:schemeClr val="tx1"/>
                </a:solidFill>
              </a:rPr>
              <a:t>істить загальні атрибути та, ймовірно, методи авторизації.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altLang="en-US" dirty="0">
                <a:solidFill>
                  <a:schemeClr val="tx1"/>
                </a:solidFill>
              </a:rPr>
              <a:t>Admin / BasicUser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altLang="en-US" dirty="0">
                <a:solidFill>
                  <a:schemeClr val="tx1"/>
                </a:solidFill>
              </a:rPr>
              <a:t>к</a:t>
            </a:r>
            <a:r>
              <a:rPr lang="en-US" altLang="en-US" dirty="0">
                <a:solidFill>
                  <a:schemeClr val="tx1"/>
                </a:solidFill>
              </a:rPr>
              <a:t>атегорії користувачів</a:t>
            </a:r>
            <a:r>
              <a:rPr lang="uk-UA" altLang="en-US" dirty="0">
                <a:solidFill>
                  <a:schemeClr val="tx1"/>
                </a:solidFill>
              </a:rPr>
              <a:t>,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r>
              <a:rPr lang="uk-UA" altLang="en-US" dirty="0">
                <a:solidFill>
                  <a:schemeClr val="tx1"/>
                </a:solidFill>
              </a:rPr>
              <a:t>в</a:t>
            </a:r>
            <a:r>
              <a:rPr lang="en-US" altLang="en-US" dirty="0">
                <a:solidFill>
                  <a:schemeClr val="tx1"/>
                </a:solidFill>
              </a:rPr>
              <a:t>изначають різні рівні прав доступу до функціоналу програми (наприклад, BasicUser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 </a:t>
            </a:r>
            <a:r>
              <a:rPr lang="en-US" altLang="en-US" dirty="0">
                <a:solidFill>
                  <a:schemeClr val="tx1"/>
                </a:solidFill>
              </a:rPr>
              <a:t> Касир, Admin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 </a:t>
            </a:r>
            <a:r>
              <a:rPr lang="en-US" altLang="en-US" dirty="0">
                <a:solidFill>
                  <a:schemeClr val="tx1"/>
                </a:solidFill>
              </a:rPr>
              <a:t> Управління).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AuthManager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у</a:t>
            </a:r>
            <a:r>
              <a:rPr lang="en-US" altLang="en-US" dirty="0">
                <a:solidFill>
                  <a:schemeClr val="tx1"/>
                </a:solidFill>
              </a:rPr>
              <a:t>правління авторизацією</a:t>
            </a:r>
            <a:r>
              <a:rPr lang="uk-UA" altLang="en-US" dirty="0">
                <a:solidFill>
                  <a:schemeClr val="tx1"/>
                </a:solidFill>
              </a:rPr>
              <a:t>,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r>
              <a:rPr lang="uk-UA" altLang="en-US" dirty="0">
                <a:solidFill>
                  <a:schemeClr val="tx1"/>
                </a:solidFill>
              </a:rPr>
              <a:t>к</a:t>
            </a:r>
            <a:r>
              <a:rPr lang="en-US" altLang="en-US" dirty="0">
                <a:solidFill>
                  <a:schemeClr val="tx1"/>
                </a:solidFill>
              </a:rPr>
              <a:t>ерує процесом входу, перевіряє облікові дані та визначає права доступу користувача.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</a:rPr>
              <a:t>Receipt</a:t>
            </a:r>
            <a:r>
              <a:rPr lang="uk-UA" alt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ф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іскальний чек / Квитанція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к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лас для моделювання одиниці продажу (транзакції) та фіксації куплених товарів.</a:t>
            </a:r>
            <a:endParaRPr lang="en-US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SaleProcessor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Обробка продажів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м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істить логіку оформлення покупки (продажу) та керує створенням об'єктів Receipt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.</a:t>
            </a:r>
            <a:endParaRPr lang="en-US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Logger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Журналювання подій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 в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икористовується для запису важливих операцій або помилок програми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Configuration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 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Налаштування програми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м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істить конфігураційні параметри, які можуть бути універсальними для Windows та Linux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dirty="0">
              <a:solidFill>
                <a:schemeClr val="tx1"/>
              </a:solidFill>
              <a:sym typeface="+mn-ea"/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sym typeface="+mn-ea"/>
              </a:rPr>
              <a:t>main.cpp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dirty="0">
                <a:solidFill>
                  <a:schemeClr val="tx1"/>
                </a:solidFill>
                <a:sym typeface="+mn-ea"/>
              </a:rPr>
              <a:t>–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Точка входу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,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 </a:t>
            </a:r>
            <a:r>
              <a:rPr lang="uk-UA" altLang="en-US" dirty="0">
                <a:solidFill>
                  <a:schemeClr val="tx1"/>
                </a:solidFill>
                <a:sym typeface="+mn-ea"/>
              </a:rPr>
              <a:t>і</a:t>
            </a:r>
            <a:r>
              <a:rPr lang="en-US" altLang="en-US" dirty="0">
                <a:solidFill>
                  <a:schemeClr val="tx1"/>
                </a:solidFill>
                <a:sym typeface="+mn-ea"/>
              </a:rPr>
              <a:t>ніціалізує програму, завантажує дані, запускає головне меню та обробляє цикл роботи.</a:t>
            </a:r>
            <a:endParaRPr lang="en-US" altLang="en-US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54868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Алгоритми</a:t>
            </a:r>
            <a:r>
              <a:rPr lang="ru-RU" b="1" dirty="0"/>
              <a:t> </a:t>
            </a:r>
            <a:r>
              <a:rPr lang="ru-RU" b="1" dirty="0" err="1"/>
              <a:t>роботи</a:t>
            </a:r>
            <a:r>
              <a:rPr lang="ru-RU" b="1" dirty="0"/>
              <a:t> </a:t>
            </a:r>
            <a:r>
              <a:rPr lang="ru-RU" b="1" dirty="0" err="1"/>
              <a:t>програми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323528" y="980728"/>
            <a:ext cx="4038600" cy="4525963"/>
          </a:xfrm>
        </p:spPr>
        <p:txBody>
          <a:bodyPr>
            <a:normAutofit/>
          </a:bodyPr>
          <a:lstStyle/>
          <a:p>
            <a:r>
              <a:rPr lang="uk-UA" sz="1600" dirty="0"/>
              <a:t>Рисунок 1 – Узагальнена блок-схема алгоритму додавання  об’єкту</a:t>
            </a:r>
            <a:endParaRPr lang="uk-UA" sz="1600" dirty="0"/>
          </a:p>
          <a:p>
            <a:endParaRPr lang="ru-RU" sz="160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499992" y="980728"/>
            <a:ext cx="4038600" cy="4525963"/>
          </a:xfrm>
        </p:spPr>
        <p:txBody>
          <a:bodyPr>
            <a:normAutofit/>
          </a:bodyPr>
          <a:lstStyle/>
          <a:p>
            <a:r>
              <a:rPr lang="uk-UA" sz="1600" dirty="0"/>
              <a:t>Рисунок 2 – Узагальнена блок-схема алгоритму редагування об’єкту</a:t>
            </a:r>
            <a:endParaRPr lang="uk-UA" sz="1600" dirty="0"/>
          </a:p>
          <a:p>
            <a:endParaRPr lang="ru-RU" sz="1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628800"/>
            <a:ext cx="2808312" cy="49199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6096" y="1628800"/>
            <a:ext cx="1686297" cy="4650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 flipV="1">
            <a:off x="251520" y="188640"/>
            <a:ext cx="205680" cy="85998"/>
          </a:xfrm>
        </p:spPr>
        <p:txBody>
          <a:bodyPr>
            <a:normAutofit fontScale="90000"/>
          </a:bodyPr>
          <a:lstStyle/>
          <a:p>
            <a:r>
              <a:rPr lang="uk-UA" dirty="0"/>
              <a:t>.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323528" y="404664"/>
            <a:ext cx="4038600" cy="4525963"/>
          </a:xfrm>
        </p:spPr>
        <p:txBody>
          <a:bodyPr/>
          <a:lstStyle/>
          <a:p>
            <a:r>
              <a:rPr lang="uk-UA" sz="1600" dirty="0"/>
              <a:t>Рисунок 3 – Узагальнена блок-схема алгоритму видалення об’єкта</a:t>
            </a:r>
            <a:endParaRPr lang="ru-RU" sz="1600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0" y="332656"/>
            <a:ext cx="4038600" cy="4525963"/>
          </a:xfrm>
        </p:spPr>
        <p:txBody>
          <a:bodyPr/>
          <a:lstStyle/>
          <a:p>
            <a:r>
              <a:rPr lang="uk-UA" sz="1600" dirty="0"/>
              <a:t>Рисунок 4 – Узагальнена блок-схема алгоритму перегляду доданих об’єктів та їх сортування</a:t>
            </a:r>
            <a:endParaRPr lang="ru-RU" sz="1600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124744"/>
            <a:ext cx="2971800" cy="5086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196752"/>
            <a:ext cx="2276475" cy="5314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7504" y="116633"/>
            <a:ext cx="8856984" cy="1368151"/>
          </a:xfrm>
        </p:spPr>
        <p:txBody>
          <a:bodyPr>
            <a:normAutofit fontScale="90000"/>
          </a:bodyPr>
          <a:lstStyle/>
          <a:p>
            <a:r>
              <a:rPr lang="uk-UA" b="1" dirty="0"/>
              <a:t>Вимоги до консольного інтерфейсу користувача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412776"/>
            <a:ext cx="8568952" cy="5184576"/>
          </a:xfrm>
        </p:spPr>
        <p:txBody>
          <a:bodyPr>
            <a:norm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Робоча мова інтерфейсу – українська.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Використання термінів, зрозумілих користувачеві. 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Навігаційна панель (меню), яка забезпечує перегляд, редагування, додавання та зчитування даних.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«Посібник користувача», що містить інструкції з використання програми.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Повідомлення про некоректно введені дані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55576" y="260648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Опис</a:t>
            </a:r>
            <a:r>
              <a:rPr lang="ru-RU" b="1" dirty="0"/>
              <a:t> </a:t>
            </a:r>
            <a:r>
              <a:rPr lang="ru-RU" b="1" dirty="0" err="1"/>
              <a:t>користувацького</a:t>
            </a:r>
            <a:r>
              <a:rPr lang="ru-RU" b="1" dirty="0"/>
              <a:t> </a:t>
            </a:r>
            <a:r>
              <a:rPr lang="ru-RU" b="1" dirty="0" err="1"/>
              <a:t>інтерфейсу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568952" cy="5904656"/>
          </a:xfrm>
        </p:spPr>
        <p:txBody>
          <a:bodyPr>
            <a:normAutofit/>
          </a:bodyPr>
          <a:lstStyle/>
          <a:p>
            <a:pPr algn="l"/>
            <a:r>
              <a:rPr lang="uk-UA" sz="2400" dirty="0">
                <a:solidFill>
                  <a:schemeClr val="tx1"/>
                </a:solidFill>
              </a:rPr>
              <a:t>Після авторизації як адміністратор, в консоль виводитися меню, що складається з 10 пунктів. В якому адміністратор може додавати, редагувати, видаляти, переглядати, шукати, сортувати, фільтрувати товар, керувати обліковими записами, вийти з облікового запису.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Після виборо пункту 9 адміністратора перекидую у меню керування обліковими записами. В якому адміністратор може переглянути, створити, видалити коростувача.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Якщо ми авторизуємось як користувач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uk-UA" altLang="en-US" sz="2400" dirty="0">
                <a:solidFill>
                  <a:schemeClr val="tx1"/>
                </a:solidFill>
              </a:rPr>
              <a:t>консоль нам виведить меню касира у якому користувач може оформити покупку, переглянути всі товари і пошук товарів.</a:t>
            </a:r>
            <a:r>
              <a:rPr lang="uk-UA" sz="2400" dirty="0">
                <a:solidFill>
                  <a:schemeClr val="tx1"/>
                </a:solidFill>
              </a:rPr>
              <a:t> Також у користувача є окремий пункт з описом як працювати з програмаю.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  </a:t>
            </a:r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69269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Опис</a:t>
            </a:r>
            <a:r>
              <a:rPr lang="ru-RU" b="1" dirty="0"/>
              <a:t> </a:t>
            </a:r>
            <a:r>
              <a:rPr lang="ru-RU" b="1" dirty="0" err="1"/>
              <a:t>користувацького</a:t>
            </a:r>
            <a:r>
              <a:rPr lang="ru-RU" b="1" dirty="0"/>
              <a:t> </a:t>
            </a:r>
            <a:r>
              <a:rPr lang="ru-RU" b="1" dirty="0" err="1"/>
              <a:t>інтерфейсу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2843599" y="4077335"/>
            <a:ext cx="40386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uk-UA" dirty="0"/>
          </a:p>
          <a:p>
            <a:r>
              <a:rPr lang="uk-UA" dirty="0"/>
              <a:t>Рисунок 5 – меню адміністратора</a:t>
            </a:r>
            <a:endParaRPr lang="uk-UA" dirty="0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3134995" y="1268730"/>
            <a:ext cx="2880360" cy="2644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331" y="4221192"/>
            <a:ext cx="71352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7 – вивід всіх товарів</a:t>
            </a:r>
            <a:endParaRPr lang="en-US" alt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188595"/>
            <a:ext cx="5158740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188595"/>
            <a:ext cx="4168140" cy="172212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251460" y="2161540"/>
            <a:ext cx="4841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uk-UA" altLang="en-US"/>
              <a:t>Рисунок 8 </a:t>
            </a:r>
            <a:r>
              <a:rPr lang="uk-UA" dirty="0">
                <a:sym typeface="+mn-ea"/>
              </a:rPr>
              <a:t>– </a:t>
            </a:r>
            <a:r>
              <a:rPr lang="uk-UA" dirty="0">
                <a:sym typeface="+mn-ea"/>
              </a:rPr>
              <a:t>додавання товару до бд</a:t>
            </a:r>
            <a:r>
              <a:rPr lang="uk-UA" altLang="en-US"/>
              <a:t> </a:t>
            </a:r>
            <a:endParaRPr lang="uk-UA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" y="2564765"/>
            <a:ext cx="4396740" cy="129540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251460" y="4221480"/>
            <a:ext cx="40614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uk-UA" altLang="en-US"/>
              <a:t>Рисунок 9 </a:t>
            </a:r>
            <a:r>
              <a:rPr lang="uk-UA" dirty="0">
                <a:sym typeface="+mn-ea"/>
              </a:rPr>
              <a:t>– редагування товару</a:t>
            </a:r>
            <a:endParaRPr lang="uk-UA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4589780"/>
            <a:ext cx="3726180" cy="105918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251460" y="5877560"/>
            <a:ext cx="4572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uk-UA" altLang="en-US">
                <a:sym typeface="+mn-ea"/>
              </a:rPr>
              <a:t>Рисунок 10 </a:t>
            </a:r>
            <a:r>
              <a:rPr lang="uk-UA" dirty="0">
                <a:sym typeface="+mn-ea"/>
              </a:rPr>
              <a:t>– видалення товару</a:t>
            </a:r>
            <a:endParaRPr lang="uk-UA" dirty="0"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9705" y="1197292"/>
            <a:ext cx="7200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11 – пошук товару</a:t>
            </a:r>
            <a:endParaRPr lang="uk-UA" dirty="0"/>
          </a:p>
          <a:p>
            <a:endParaRPr lang="uk-UA" dirty="0"/>
          </a:p>
        </p:txBody>
      </p:sp>
      <p:sp>
        <p:nvSpPr>
          <p:cNvPr id="10" name="TextBox 9"/>
          <p:cNvSpPr txBox="1"/>
          <p:nvPr/>
        </p:nvSpPr>
        <p:spPr>
          <a:xfrm>
            <a:off x="179705" y="2421286"/>
            <a:ext cx="7200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12 – сортування товару</a:t>
            </a:r>
            <a:endParaRPr lang="uk-UA" dirty="0"/>
          </a:p>
        </p:txBody>
      </p:sp>
      <p:sp>
        <p:nvSpPr>
          <p:cNvPr id="13" name="TextBox 12"/>
          <p:cNvSpPr txBox="1"/>
          <p:nvPr/>
        </p:nvSpPr>
        <p:spPr>
          <a:xfrm>
            <a:off x="251471" y="5156664"/>
            <a:ext cx="7200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13 – фільтрування товару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705" y="188595"/>
            <a:ext cx="6332220" cy="6858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05" y="1701165"/>
            <a:ext cx="5196840" cy="46482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70" y="2853055"/>
            <a:ext cx="6324600" cy="1996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266" y="4581366"/>
            <a:ext cx="72114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15 – інвентаризація залишків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260985"/>
            <a:ext cx="6217920" cy="3947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649" y="1844546"/>
            <a:ext cx="5112568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</a:t>
            </a:r>
            <a:r>
              <a:rPr lang="en-US" altLang="uk-UA" dirty="0"/>
              <a:t>6</a:t>
            </a:r>
            <a:r>
              <a:rPr lang="uk-UA" dirty="0"/>
              <a:t> – меню користувача без прав адміністратора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260985"/>
            <a:ext cx="3802380" cy="12725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11560" y="-171400"/>
            <a:ext cx="7772400" cy="1470025"/>
          </a:xfrm>
        </p:spPr>
        <p:txBody>
          <a:bodyPr/>
          <a:lstStyle/>
          <a:p>
            <a:r>
              <a:rPr lang="uk-UA" b="1" dirty="0"/>
              <a:t>Висновок: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9022" y="908720"/>
            <a:ext cx="8856984" cy="5760640"/>
          </a:xfrm>
        </p:spPr>
        <p:txBody>
          <a:bodyPr>
            <a:noAutofit/>
          </a:bodyPr>
          <a:lstStyle/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У результаті виконання курсового проєкту розроблена система управління базою автомобілів для комп’ютерів, які працюють під керуванням ОС Windows.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У розробленому </a:t>
            </a:r>
            <a:r>
              <a:rPr lang="en-US" altLang="en-US" sz="1800" dirty="0">
                <a:solidFill>
                  <a:schemeClr val="tx1"/>
                </a:solidFill>
              </a:rPr>
              <a:t>програмному забезпечені передбачено: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Подання даних користувачем у консолі.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Збереження даних у файл.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uk-UA" altLang="en-US" sz="1800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Зчитування даних з файлу.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Додавання нових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Редагування доданих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Видалення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Перегляд всіх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Пошук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Сортування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Фільтрування товарів</a:t>
            </a:r>
            <a:r>
              <a:rPr lang="uk-UA" altLang="en-US" sz="1800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Оформлення покупки.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Виведення інструкції (Help).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Дана розробка у майбутньому може бути розширена із додаванням нового функціоналу і видозміненою логікою обробки.</a:t>
            </a:r>
            <a:endParaRPr lang="en-US" altLang="en-US"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4534</Words>
  <Application>WPS Presentation</Application>
  <PresentationFormat>Екран (4:3)</PresentationFormat>
  <Paragraphs>116</Paragraphs>
  <Slides>15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Arial</vt:lpstr>
      <vt:lpstr>SimSun</vt:lpstr>
      <vt:lpstr>Wingdings</vt:lpstr>
      <vt:lpstr>Calibri</vt:lpstr>
      <vt:lpstr>Microsoft YaHei</vt:lpstr>
      <vt:lpstr>Arial Unicode MS</vt:lpstr>
      <vt:lpstr>Тема Office</vt:lpstr>
      <vt:lpstr>КУРСОВИЙ ПРОЄКТ на тему: Система втоматизації складу товарів</vt:lpstr>
      <vt:lpstr>Мета роботи та постановка задачі</vt:lpstr>
      <vt:lpstr>Вихідні дані до проєкту  </vt:lpstr>
      <vt:lpstr>Модулі (класи) програми  </vt:lpstr>
      <vt:lpstr>Алгоритми роботи програми  </vt:lpstr>
      <vt:lpstr>.</vt:lpstr>
      <vt:lpstr>Вимоги до консольного інтерфейсу користувача</vt:lpstr>
      <vt:lpstr>Опис користувацького інтерфейсу  </vt:lpstr>
      <vt:lpstr>Опис користувацького інтерфейсу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Висновок: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КУРСОВИЙ ПРОЄКТ на тему: Система управління базою замовлення страв в ресторані</dc:title>
  <dc:creator>Настя Яковенко</dc:creator>
  <cp:lastModifiedBy>Кирилюк Максим</cp:lastModifiedBy>
  <cp:revision>15</cp:revision>
  <dcterms:created xsi:type="dcterms:W3CDTF">2024-10-28T20:35:00Z</dcterms:created>
  <dcterms:modified xsi:type="dcterms:W3CDTF">2025-11-22T14:55:07Z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8ECE19A5CA034C2CBCE509874A59C30A_13</vt:lpwstr>
  </property>
  <property fmtid="{D5CDD505-2E9C-101B-9397-08002B2CF9AE}" pid="3" name="KSOProductBuildVer">
    <vt:lpwstr>1033-12.2.0.23155</vt:lpwstr>
  </property>
</Properties>
</file>