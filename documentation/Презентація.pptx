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5"/>
    <p:sldId id="270" r:id="rId16"/>
    <p:sldId id="268" r:id="rId17"/>
    <p:sldId id="269" r:id="rId18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14" autoAdjust="0"/>
  </p:normalViewPr>
  <p:slideViewPr>
    <p:cSldViewPr showGuides="1">
      <p:cViewPr varScale="1">
        <p:scale>
          <a:sx n="92" d="100"/>
          <a:sy n="92" d="100"/>
        </p:scale>
        <p:origin x="1186" y="101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BBFC75-8165-4E25-8EDD-59ED2BB2BB35}" type="datetimeFigureOut">
              <a:rPr lang="uk-UA" smtClean="0"/>
            </a:fld>
            <a:endParaRPr lang="uk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  <a:endParaRPr lang="uk-UA"/>
          </a:p>
          <a:p>
            <a:pPr lvl="1"/>
            <a:r>
              <a:rPr lang="uk-UA"/>
              <a:t>Другий рівень</a:t>
            </a:r>
            <a:endParaRPr lang="uk-UA"/>
          </a:p>
          <a:p>
            <a:pPr lvl="2"/>
            <a:r>
              <a:rPr lang="uk-UA"/>
              <a:t>Третій рівень</a:t>
            </a:r>
            <a:endParaRPr lang="uk-UA"/>
          </a:p>
          <a:p>
            <a:pPr lvl="3"/>
            <a:r>
              <a:rPr lang="uk-UA"/>
              <a:t>Четвертий рівень</a:t>
            </a:r>
            <a:endParaRPr lang="uk-UA"/>
          </a:p>
          <a:p>
            <a:pPr lvl="4"/>
            <a:r>
              <a:rPr lang="uk-UA"/>
              <a:t>П’ятий рівень</a:t>
            </a:r>
            <a:endParaRPr lang="uk-UA"/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BCBB1E-C060-4423-8797-60E1E517A549}" type="slidenum">
              <a:rPr lang="uk-UA" smtClean="0"/>
            </a:fld>
            <a:endParaRPr lang="uk-UA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BCBB1E-C060-4423-8797-60E1E517A549}" type="slidenum">
              <a:rPr lang="uk-UA" smtClean="0"/>
            </a:fld>
            <a:endParaRPr lang="uk-UA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BCBB1E-C060-4423-8797-60E1E517A549}" type="slidenum">
              <a:rPr lang="uk-UA" smtClean="0"/>
            </a:fld>
            <a:endParaRPr lang="uk-UA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ru-RU" sz="3600" b="1" dirty="0"/>
              <a:t>КУРСОВИЙ ПРОЄКТ</a:t>
            </a:r>
            <a:br>
              <a:rPr lang="ru-RU" sz="3600" b="1" dirty="0"/>
            </a:br>
            <a:r>
              <a:rPr lang="ru-RU" sz="3600" b="1" dirty="0"/>
              <a:t>на тему: </a:t>
            </a:r>
            <a:r>
              <a:rPr lang="uk-UA" altLang="ru-RU" sz="3600" b="1" dirty="0"/>
              <a:t>Система втоматизації складу товарів</a:t>
            </a:r>
            <a:endParaRPr lang="uk-UA" altLang="ru-RU" sz="3600" b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ru-RU" sz="4500" dirty="0">
                <a:solidFill>
                  <a:schemeClr val="tx1"/>
                </a:solidFill>
              </a:rPr>
              <a:t>з </a:t>
            </a:r>
            <a:r>
              <a:rPr lang="ru-RU" sz="4500" dirty="0" err="1">
                <a:solidFill>
                  <a:schemeClr val="tx1"/>
                </a:solidFill>
              </a:rPr>
              <a:t>дисципліни</a:t>
            </a:r>
            <a:br>
              <a:rPr lang="ru-RU" sz="4500" dirty="0">
                <a:solidFill>
                  <a:schemeClr val="tx1"/>
                </a:solidFill>
              </a:rPr>
            </a:br>
            <a:r>
              <a:rPr lang="ru-RU" sz="4500" dirty="0">
                <a:solidFill>
                  <a:schemeClr val="tx1"/>
                </a:solidFill>
              </a:rPr>
              <a:t>СТРУКТУРИ ДАНИХ, АЛГОРИТМИ</a:t>
            </a:r>
            <a:endParaRPr lang="ru-RU" sz="4500" dirty="0">
              <a:solidFill>
                <a:schemeClr val="tx1"/>
              </a:solidFill>
            </a:endParaRPr>
          </a:p>
          <a:p>
            <a:r>
              <a:rPr lang="ru-RU" sz="4500" dirty="0">
                <a:solidFill>
                  <a:schemeClr val="tx1"/>
                </a:solidFill>
              </a:rPr>
              <a:t>ТА ОБ’ЄКТНО-ОРІЄНТОВАНА ПАРАДИГМА</a:t>
            </a:r>
            <a:endParaRPr lang="ru-RU" sz="4500" dirty="0">
              <a:solidFill>
                <a:schemeClr val="tx1"/>
              </a:solidFill>
            </a:endParaRPr>
          </a:p>
          <a:p>
            <a:br>
              <a:rPr lang="ru-RU" sz="4500" dirty="0">
                <a:solidFill>
                  <a:schemeClr val="tx1"/>
                </a:solidFill>
              </a:rPr>
            </a:br>
            <a:br>
              <a:rPr lang="ru-RU" dirty="0"/>
            </a:br>
            <a:endParaRPr lang="ru-RU" dirty="0"/>
          </a:p>
          <a:p>
            <a:pPr algn="r"/>
            <a:br>
              <a:rPr lang="ru-RU" dirty="0"/>
            </a:br>
            <a:r>
              <a:rPr lang="ru-RU" dirty="0"/>
              <a:t>                                                            </a:t>
            </a:r>
            <a:r>
              <a:rPr lang="ru-RU" sz="4400" dirty="0" err="1">
                <a:solidFill>
                  <a:schemeClr val="tx1"/>
                </a:solidFill>
              </a:rPr>
              <a:t>Викона</a:t>
            </a:r>
            <a:r>
              <a:rPr lang="uk-UA" sz="4400" dirty="0">
                <a:solidFill>
                  <a:schemeClr val="tx1"/>
                </a:solidFill>
              </a:rPr>
              <a:t>в</a:t>
            </a:r>
            <a:r>
              <a:rPr lang="en-US" sz="4400" dirty="0">
                <a:solidFill>
                  <a:schemeClr val="tx1"/>
                </a:solidFill>
              </a:rPr>
              <a:t>:</a:t>
            </a:r>
            <a:r>
              <a:rPr lang="uk-UA" sz="4400" dirty="0">
                <a:solidFill>
                  <a:schemeClr val="tx1"/>
                </a:solidFill>
              </a:rPr>
              <a:t> Кирилюк Максим Олександрович</a:t>
            </a:r>
            <a:endParaRPr lang="uk-UA" sz="4400" dirty="0">
              <a:solidFill>
                <a:schemeClr val="tx1"/>
              </a:solidFill>
            </a:endParaRPr>
          </a:p>
          <a:p>
            <a:pPr algn="r"/>
            <a:endParaRPr lang="ru-RU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-468560" y="260648"/>
            <a:ext cx="10009112" cy="1470025"/>
          </a:xfrm>
        </p:spPr>
        <p:txBody>
          <a:bodyPr>
            <a:normAutofit/>
          </a:bodyPr>
          <a:lstStyle/>
          <a:p>
            <a:r>
              <a:rPr lang="ru-RU" sz="4000" b="1" dirty="0"/>
              <a:t>Мета </a:t>
            </a:r>
            <a:r>
              <a:rPr lang="ru-RU" sz="4000" b="1" dirty="0" err="1"/>
              <a:t>роботи</a:t>
            </a:r>
            <a:r>
              <a:rPr lang="ru-RU" sz="4000" b="1" dirty="0"/>
              <a:t> та постановка </a:t>
            </a:r>
            <a:r>
              <a:rPr lang="ru-RU" sz="4000" b="1" dirty="0" err="1"/>
              <a:t>задачі</a:t>
            </a:r>
            <a:endParaRPr lang="ru-RU" sz="40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51520" y="1700808"/>
            <a:ext cx="8424936" cy="5400600"/>
          </a:xfrm>
        </p:spPr>
        <p:txBody>
          <a:bodyPr>
            <a:normAutofit/>
          </a:bodyPr>
          <a:lstStyle/>
          <a:p>
            <a:pPr algn="l"/>
            <a:r>
              <a:rPr lang="uk-UA" sz="2000" b="1" dirty="0">
                <a:solidFill>
                  <a:schemeClr val="tx1"/>
                </a:solidFill>
              </a:rPr>
              <a:t>Мета роботи </a:t>
            </a:r>
            <a:r>
              <a:rPr lang="uk-UA" sz="2000" dirty="0">
                <a:solidFill>
                  <a:schemeClr val="tx1"/>
                </a:solidFill>
              </a:rPr>
              <a:t>полягає у розробці консольного інструмента для електронного кадрового обліку. Демонстрація практичного застосування Обєктно-орієнтованого програмування (ООП та ефективного використання Структур Даних (</a:t>
            </a:r>
            <a:r>
              <a:rPr lang="en-US" sz="2000" dirty="0">
                <a:solidFill>
                  <a:schemeClr val="tx1"/>
                </a:solidFill>
              </a:rPr>
              <a:t>STL)</a:t>
            </a:r>
            <a:r>
              <a:rPr lang="uk-UA" altLang="en-US" sz="2000" dirty="0">
                <a:solidFill>
                  <a:schemeClr val="tx1"/>
                </a:solidFill>
              </a:rPr>
              <a:t>.</a:t>
            </a:r>
            <a:endParaRPr lang="ru-RU" sz="2000" dirty="0">
              <a:solidFill>
                <a:schemeClr val="tx1"/>
              </a:solidFill>
            </a:endParaRPr>
          </a:p>
          <a:p>
            <a:pPr algn="l"/>
            <a:endParaRPr lang="en-US" sz="2000" dirty="0">
              <a:solidFill>
                <a:schemeClr val="tx1"/>
              </a:solidFill>
            </a:endParaRPr>
          </a:p>
          <a:p>
            <a:pPr algn="l"/>
            <a:r>
              <a:rPr lang="ru-RU" sz="2000" u="sng" dirty="0">
                <a:solidFill>
                  <a:schemeClr val="tx1"/>
                </a:solidFill>
              </a:rPr>
              <a:t>Постановка </a:t>
            </a:r>
            <a:r>
              <a:rPr lang="ru-RU" sz="2000" u="sng" dirty="0" err="1">
                <a:solidFill>
                  <a:schemeClr val="tx1"/>
                </a:solidFill>
              </a:rPr>
              <a:t>задачі</a:t>
            </a:r>
            <a:r>
              <a:rPr lang="ru-RU" sz="2000" u="sng" dirty="0">
                <a:solidFill>
                  <a:schemeClr val="tx1"/>
                </a:solidFill>
              </a:rPr>
              <a:t>: </a:t>
            </a:r>
            <a:endParaRPr lang="ru-RU" sz="2000" dirty="0">
              <a:solidFill>
                <a:schemeClr val="tx1"/>
              </a:solidFill>
            </a:endParaRPr>
          </a:p>
          <a:p>
            <a:pPr algn="l">
              <a:buFont typeface="+mj-lt"/>
            </a:pPr>
            <a:endParaRPr lang="ru-RU" sz="2000" dirty="0">
              <a:solidFill>
                <a:schemeClr val="tx1"/>
              </a:solidFill>
            </a:endParaRPr>
          </a:p>
          <a:p>
            <a:pPr algn="l">
              <a:buFont typeface="+mj-lt"/>
            </a:pPr>
            <a:r>
              <a:rPr lang="uk-UA" altLang="ru-RU" sz="2000" dirty="0">
                <a:solidFill>
                  <a:schemeClr val="tx1"/>
                </a:solidFill>
              </a:rPr>
              <a:t>В базу даних заносяться дані про товар: ціна, залишок, дата завезення.</a:t>
            </a:r>
            <a:endParaRPr lang="uk-UA" altLang="ru-RU" sz="2000" dirty="0">
              <a:solidFill>
                <a:schemeClr val="tx1"/>
              </a:solidFill>
            </a:endParaRPr>
          </a:p>
          <a:p>
            <a:pPr algn="l">
              <a:buFont typeface="+mj-lt"/>
            </a:pPr>
            <a:r>
              <a:rPr lang="uk-UA" altLang="ru-RU" sz="2000" dirty="0">
                <a:solidFill>
                  <a:schemeClr val="tx1"/>
                </a:solidFill>
              </a:rPr>
              <a:t>Результати пошуку товару та сортування  та фільтрацію за різними параметрами.</a:t>
            </a:r>
            <a:endParaRPr lang="uk-UA" altLang="ru-RU" sz="2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467544" y="692696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Вихідні</a:t>
            </a:r>
            <a:r>
              <a:rPr lang="ru-RU" b="1" dirty="0"/>
              <a:t> </a:t>
            </a:r>
            <a:r>
              <a:rPr lang="ru-RU" b="1" dirty="0" err="1"/>
              <a:t>дані</a:t>
            </a:r>
            <a:r>
              <a:rPr lang="ru-RU" b="1" dirty="0"/>
              <a:t> до </a:t>
            </a:r>
            <a:r>
              <a:rPr lang="ru-RU" b="1" dirty="0" err="1"/>
              <a:t>проєкту</a:t>
            </a:r>
            <a:br>
              <a:rPr lang="ru-RU" dirty="0"/>
            </a:b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51520" y="1772816"/>
            <a:ext cx="8496944" cy="5688632"/>
          </a:xfrm>
        </p:spPr>
        <p:txBody>
          <a:bodyPr>
            <a:normAutofit/>
          </a:bodyPr>
          <a:lstStyle/>
          <a:p>
            <a:pPr marL="457200" lvl="0" indent="-457200" algn="l" fontAlgn="base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Створити базу даних –</a:t>
            </a:r>
            <a:r>
              <a:rPr lang="en-US" sz="2000" dirty="0">
                <a:solidFill>
                  <a:schemeClr val="tx1"/>
                </a:solidFill>
              </a:rPr>
              <a:t>Csv file</a:t>
            </a:r>
            <a:r>
              <a:rPr lang="uk-UA" sz="2000" dirty="0">
                <a:solidFill>
                  <a:schemeClr val="tx1"/>
                </a:solidFill>
              </a:rPr>
              <a:t>, в який будуть вноситись дані про авто;</a:t>
            </a:r>
            <a:endParaRPr lang="ru-RU" sz="2000" dirty="0">
              <a:solidFill>
                <a:schemeClr val="tx1"/>
              </a:solidFill>
            </a:endParaRPr>
          </a:p>
          <a:p>
            <a:pPr marL="457200" lvl="0" indent="-457200" algn="l" fontAlgn="base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Передбачити ввід та вивід даних через консоль;</a:t>
            </a:r>
            <a:endParaRPr lang="ru-RU" sz="2000" dirty="0">
              <a:solidFill>
                <a:schemeClr val="tx1"/>
              </a:solidFill>
            </a:endParaRPr>
          </a:p>
          <a:p>
            <a:pPr marL="457200" lvl="0" indent="-457200" algn="l" fontAlgn="base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Розробити консольне меню, для виконання функцій програми (додавання, редагування, видалення, перегляд);</a:t>
            </a:r>
            <a:endParaRPr lang="ru-RU" sz="2000" dirty="0">
              <a:solidFill>
                <a:schemeClr val="tx1"/>
              </a:solidFill>
            </a:endParaRPr>
          </a:p>
          <a:p>
            <a:pPr marL="457200" lvl="0" indent="-457200" algn="l" fontAlgn="base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Передбачити сортування та фільтрацію записів з бази даних;</a:t>
            </a:r>
            <a:endParaRPr lang="ru-RU" sz="2000" dirty="0">
              <a:solidFill>
                <a:schemeClr val="tx1"/>
              </a:solidFill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Передбачити перевірку коректності вводу даних .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3568" y="476672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Модулі</a:t>
            </a:r>
            <a:r>
              <a:rPr lang="ru-RU" b="1" dirty="0"/>
              <a:t> (</a:t>
            </a:r>
            <a:r>
              <a:rPr lang="ru-RU" b="1" dirty="0" err="1"/>
              <a:t>класи</a:t>
            </a:r>
            <a:r>
              <a:rPr lang="ru-RU" b="1" dirty="0"/>
              <a:t>) </a:t>
            </a:r>
            <a:r>
              <a:rPr lang="ru-RU" b="1" dirty="0" err="1"/>
              <a:t>програми</a:t>
            </a:r>
            <a:br>
              <a:rPr lang="ru-RU" dirty="0"/>
            </a:b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323528" y="980728"/>
            <a:ext cx="8568952" cy="5688632"/>
          </a:xfrm>
        </p:spPr>
        <p:txBody>
          <a:bodyPr>
            <a:normAutofit fontScale="70000" lnSpcReduction="20000"/>
          </a:bodyPr>
          <a:lstStyle/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	Vehicle – </a:t>
            </a:r>
            <a:r>
              <a:rPr lang="uk-UA" dirty="0">
                <a:solidFill>
                  <a:schemeClr val="tx1"/>
                </a:solidFill>
              </a:rPr>
              <a:t>абстрактний клас що представляє транспортний засіб, у якому оголошені основні методи для дочірніх класів.</a:t>
            </a:r>
            <a:endParaRPr lang="uk-UA" dirty="0">
              <a:solidFill>
                <a:schemeClr val="tx1"/>
              </a:solidFill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uk-UA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chemeClr val="tx1"/>
                </a:solidFill>
              </a:rPr>
              <a:t>Car – </a:t>
            </a:r>
            <a:r>
              <a:rPr lang="uk-UA" dirty="0">
                <a:solidFill>
                  <a:schemeClr val="tx1"/>
                </a:solidFill>
              </a:rPr>
              <a:t>клас нащадок </a:t>
            </a:r>
            <a:r>
              <a:rPr lang="en-US" dirty="0">
                <a:solidFill>
                  <a:schemeClr val="tx1"/>
                </a:solidFill>
              </a:rPr>
              <a:t>Vehicle, </a:t>
            </a:r>
            <a:r>
              <a:rPr lang="uk-UA" dirty="0">
                <a:solidFill>
                  <a:schemeClr val="tx1"/>
                </a:solidFill>
              </a:rPr>
              <a:t>клас що представляє автомобіль.</a:t>
            </a:r>
            <a:endParaRPr lang="uk-UA" dirty="0">
              <a:solidFill>
                <a:schemeClr val="tx1"/>
              </a:solidFill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uk-UA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chemeClr val="tx1"/>
                </a:solidFill>
              </a:rPr>
              <a:t>Configuration – </a:t>
            </a:r>
            <a:r>
              <a:rPr lang="uk-UA" dirty="0">
                <a:solidFill>
                  <a:schemeClr val="tx1"/>
                </a:solidFill>
              </a:rPr>
              <a:t>клас нащадок </a:t>
            </a:r>
            <a:r>
              <a:rPr lang="en-US" dirty="0">
                <a:solidFill>
                  <a:schemeClr val="tx1"/>
                </a:solidFill>
              </a:rPr>
              <a:t>Vehicle, </a:t>
            </a:r>
            <a:r>
              <a:rPr lang="uk-UA" dirty="0">
                <a:solidFill>
                  <a:schemeClr val="tx1"/>
                </a:solidFill>
              </a:rPr>
              <a:t>який описує конфігурацію автомобілів.</a:t>
            </a:r>
            <a:endParaRPr lang="uk-UA" dirty="0">
              <a:solidFill>
                <a:schemeClr val="tx1"/>
              </a:solidFill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uk-UA" dirty="0">
                <a:solidFill>
                  <a:schemeClr val="tx1"/>
                </a:solidFill>
              </a:rPr>
              <a:t>	</a:t>
            </a:r>
            <a:r>
              <a:rPr lang="en-US" dirty="0" err="1">
                <a:solidFill>
                  <a:schemeClr val="tx1"/>
                </a:solidFill>
              </a:rPr>
              <a:t>CarManager</a:t>
            </a:r>
            <a:r>
              <a:rPr lang="en-US" dirty="0">
                <a:solidFill>
                  <a:schemeClr val="tx1"/>
                </a:solidFill>
              </a:rPr>
              <a:t> – </a:t>
            </a:r>
            <a:r>
              <a:rPr lang="uk-UA" dirty="0">
                <a:solidFill>
                  <a:schemeClr val="tx1"/>
                </a:solidFill>
              </a:rPr>
              <a:t>клас нащадок </a:t>
            </a:r>
            <a:r>
              <a:rPr lang="en-US" dirty="0">
                <a:solidFill>
                  <a:schemeClr val="tx1"/>
                </a:solidFill>
              </a:rPr>
              <a:t>Car, </a:t>
            </a:r>
            <a:r>
              <a:rPr lang="uk-UA" dirty="0">
                <a:solidFill>
                  <a:schemeClr val="tx1"/>
                </a:solidFill>
              </a:rPr>
              <a:t>менеджер-клас для керування колекцією автомобілів. Реалізує всю бізнес-логіку програми: </a:t>
            </a:r>
            <a:r>
              <a:rPr lang="en-US" dirty="0">
                <a:solidFill>
                  <a:schemeClr val="tx1"/>
                </a:solidFill>
              </a:rPr>
              <a:t>CRUD-</a:t>
            </a:r>
            <a:r>
              <a:rPr lang="uk-UA" dirty="0">
                <a:solidFill>
                  <a:schemeClr val="tx1"/>
                </a:solidFill>
              </a:rPr>
              <a:t>операції, завантаження/збереження, пошук, сортування, фільтрацію та аналітику.</a:t>
            </a:r>
            <a:endParaRPr lang="uk-UA" dirty="0">
              <a:solidFill>
                <a:schemeClr val="tx1"/>
              </a:solidFill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uk-UA" dirty="0">
                <a:solidFill>
                  <a:schemeClr val="tx1"/>
                </a:solidFill>
              </a:rPr>
              <a:t>	</a:t>
            </a:r>
            <a:r>
              <a:rPr lang="en-US" dirty="0" err="1">
                <a:solidFill>
                  <a:schemeClr val="tx1"/>
                </a:solidFill>
              </a:rPr>
              <a:t>AuthManager</a:t>
            </a:r>
            <a:r>
              <a:rPr lang="en-US" dirty="0">
                <a:solidFill>
                  <a:schemeClr val="tx1"/>
                </a:solidFill>
              </a:rPr>
              <a:t> – </a:t>
            </a:r>
            <a:r>
              <a:rPr lang="uk-UA" dirty="0">
                <a:solidFill>
                  <a:schemeClr val="tx1"/>
                </a:solidFill>
              </a:rPr>
              <a:t>клас для управління авторизаціє.</a:t>
            </a:r>
            <a:endParaRPr lang="uk-UA" dirty="0">
              <a:solidFill>
                <a:schemeClr val="tx1"/>
              </a:solidFill>
            </a:endParaRPr>
          </a:p>
          <a:p>
            <a:pPr marL="457200" lvl="0" indent="-457200" algn="l">
              <a:buFont typeface="Arial" panose="020B0604020202020204" pitchFamily="34" charset="0"/>
              <a:buChar char="•"/>
            </a:pPr>
            <a:r>
              <a:rPr lang="uk-UA" dirty="0">
                <a:solidFill>
                  <a:schemeClr val="tx1"/>
                </a:solidFill>
              </a:rPr>
              <a:t>	</a:t>
            </a:r>
            <a:r>
              <a:rPr lang="en-US" dirty="0" err="1">
                <a:solidFill>
                  <a:schemeClr val="tx1"/>
                </a:solidFill>
              </a:rPr>
              <a:t>IPrintable</a:t>
            </a:r>
            <a:r>
              <a:rPr lang="en-US" dirty="0">
                <a:solidFill>
                  <a:schemeClr val="tx1"/>
                </a:solidFill>
              </a:rPr>
              <a:t> – </a:t>
            </a:r>
            <a:r>
              <a:rPr lang="uk-UA" dirty="0">
                <a:solidFill>
                  <a:schemeClr val="tx1"/>
                </a:solidFill>
              </a:rPr>
              <a:t>клас інтерфейс всі класи що наслідують його </a:t>
            </a:r>
            <a:r>
              <a:rPr lang="uk-UA" dirty="0" err="1">
                <a:solidFill>
                  <a:schemeClr val="tx1"/>
                </a:solidFill>
              </a:rPr>
              <a:t>зообовязанні</a:t>
            </a:r>
            <a:r>
              <a:rPr lang="uk-UA" dirty="0">
                <a:solidFill>
                  <a:schemeClr val="tx1"/>
                </a:solidFill>
              </a:rPr>
              <a:t> представити реалізацію методів </a:t>
            </a:r>
            <a:r>
              <a:rPr lang="en-US" dirty="0">
                <a:solidFill>
                  <a:schemeClr val="tx1"/>
                </a:solidFill>
              </a:rPr>
              <a:t>Print() and </a:t>
            </a:r>
            <a:r>
              <a:rPr lang="en-US" dirty="0" err="1">
                <a:solidFill>
                  <a:schemeClr val="tx1"/>
                </a:solidFill>
              </a:rPr>
              <a:t>ToCSV</a:t>
            </a:r>
            <a:r>
              <a:rPr lang="en-US" dirty="0">
                <a:solidFill>
                  <a:schemeClr val="tx1"/>
                </a:solidFill>
              </a:rPr>
              <a:t>().</a:t>
            </a:r>
            <a:endParaRPr lang="en-US" dirty="0">
              <a:solidFill>
                <a:schemeClr val="tx1"/>
              </a:solidFill>
            </a:endParaRPr>
          </a:p>
          <a:p>
            <a:pPr algn="l"/>
            <a:br>
              <a:rPr lang="ru-RU" dirty="0">
                <a:solidFill>
                  <a:schemeClr val="tx1"/>
                </a:solidFill>
              </a:rPr>
            </a:br>
            <a:endParaRPr lang="ru-RU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5536" y="54868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Алгоритми</a:t>
            </a:r>
            <a:r>
              <a:rPr lang="ru-RU" b="1" dirty="0"/>
              <a:t> </a:t>
            </a:r>
            <a:r>
              <a:rPr lang="ru-RU" b="1" dirty="0" err="1"/>
              <a:t>роботи</a:t>
            </a:r>
            <a:r>
              <a:rPr lang="ru-RU" b="1" dirty="0"/>
              <a:t> </a:t>
            </a:r>
            <a:r>
              <a:rPr lang="ru-RU" b="1" dirty="0" err="1"/>
              <a:t>програми</a:t>
            </a:r>
            <a:br>
              <a:rPr lang="ru-RU" dirty="0"/>
            </a:br>
            <a:br>
              <a:rPr lang="ru-RU" dirty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323528" y="980728"/>
            <a:ext cx="4038600" cy="4525963"/>
          </a:xfrm>
        </p:spPr>
        <p:txBody>
          <a:bodyPr>
            <a:normAutofit/>
          </a:bodyPr>
          <a:lstStyle/>
          <a:p>
            <a:r>
              <a:rPr lang="uk-UA" sz="1600" dirty="0"/>
              <a:t>Рисунок 1 – Узагальнена блок-схема алгоритму додавання  об’єкту</a:t>
            </a:r>
            <a:endParaRPr lang="uk-UA" sz="1600" dirty="0"/>
          </a:p>
          <a:p>
            <a:endParaRPr lang="ru-RU" sz="1600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499992" y="980728"/>
            <a:ext cx="4038600" cy="4525963"/>
          </a:xfrm>
        </p:spPr>
        <p:txBody>
          <a:bodyPr>
            <a:normAutofit/>
          </a:bodyPr>
          <a:lstStyle/>
          <a:p>
            <a:r>
              <a:rPr lang="uk-UA" sz="1600" dirty="0"/>
              <a:t>Рисунок 2 – Узагальнена блок-схема алгоритму редагування об’єкту</a:t>
            </a:r>
            <a:endParaRPr lang="uk-UA" sz="1600" dirty="0"/>
          </a:p>
          <a:p>
            <a:endParaRPr lang="ru-RU" sz="16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628800"/>
            <a:ext cx="2808312" cy="49199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6096" y="1628800"/>
            <a:ext cx="1686297" cy="4650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 flipH="1" flipV="1">
            <a:off x="251520" y="188640"/>
            <a:ext cx="205680" cy="85998"/>
          </a:xfrm>
        </p:spPr>
        <p:txBody>
          <a:bodyPr>
            <a:normAutofit fontScale="90000"/>
          </a:bodyPr>
          <a:lstStyle/>
          <a:p>
            <a:r>
              <a:rPr lang="uk-UA" dirty="0"/>
              <a:t>.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323528" y="404664"/>
            <a:ext cx="4038600" cy="4525963"/>
          </a:xfrm>
        </p:spPr>
        <p:txBody>
          <a:bodyPr/>
          <a:lstStyle/>
          <a:p>
            <a:r>
              <a:rPr lang="uk-UA" sz="1600" dirty="0"/>
              <a:t>Рисунок 3 – Узагальнена блок-схема алгоритму видалення об’єкта</a:t>
            </a:r>
            <a:endParaRPr lang="ru-RU" sz="1600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0" y="332656"/>
            <a:ext cx="4038600" cy="4525963"/>
          </a:xfrm>
        </p:spPr>
        <p:txBody>
          <a:bodyPr/>
          <a:lstStyle/>
          <a:p>
            <a:r>
              <a:rPr lang="uk-UA" sz="1600" dirty="0"/>
              <a:t>Рисунок 4 – Узагальнена блок-схема алгоритму перегляду доданих об’єктів та їх сортування</a:t>
            </a:r>
            <a:endParaRPr lang="ru-RU" sz="1600" dirty="0"/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1124744"/>
            <a:ext cx="2971800" cy="5086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1196752"/>
            <a:ext cx="2276475" cy="5314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7504" y="116633"/>
            <a:ext cx="8856984" cy="1368151"/>
          </a:xfrm>
        </p:spPr>
        <p:txBody>
          <a:bodyPr>
            <a:normAutofit fontScale="90000"/>
          </a:bodyPr>
          <a:lstStyle/>
          <a:p>
            <a:r>
              <a:rPr lang="uk-UA" b="1" dirty="0"/>
              <a:t>Вимоги до консольного інтерфейсу користувача</a:t>
            </a:r>
            <a:endParaRPr lang="ru-RU" b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51520" y="1412776"/>
            <a:ext cx="8568952" cy="5184576"/>
          </a:xfrm>
        </p:spPr>
        <p:txBody>
          <a:bodyPr>
            <a:normAutofit/>
          </a:bodyPr>
          <a:lstStyle/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Робоча мова інтерфейсу – українська.</a:t>
            </a:r>
            <a:endParaRPr lang="uk-UA" sz="2000" dirty="0">
              <a:solidFill>
                <a:schemeClr val="tx1"/>
              </a:solidFill>
            </a:endParaRPr>
          </a:p>
          <a:p>
            <a:pPr lvl="0" algn="l"/>
            <a:endParaRPr lang="ru-RU" sz="2000" dirty="0">
              <a:solidFill>
                <a:schemeClr val="tx1"/>
              </a:solidFill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Використання термінів, зрозумілих користувачеві. </a:t>
            </a:r>
            <a:endParaRPr lang="uk-UA" sz="2000" dirty="0">
              <a:solidFill>
                <a:schemeClr val="tx1"/>
              </a:solidFill>
            </a:endParaRPr>
          </a:p>
          <a:p>
            <a:pPr lvl="0" algn="l"/>
            <a:endParaRPr lang="ru-RU" sz="2000" dirty="0">
              <a:solidFill>
                <a:schemeClr val="tx1"/>
              </a:solidFill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Навігаційна панель (меню), яка забезпечує перегляд, редагування, додавання та зчитування даних.</a:t>
            </a:r>
            <a:endParaRPr lang="uk-UA" sz="2000" dirty="0">
              <a:solidFill>
                <a:schemeClr val="tx1"/>
              </a:solidFill>
            </a:endParaRPr>
          </a:p>
          <a:p>
            <a:pPr lvl="0" algn="l"/>
            <a:endParaRPr lang="ru-RU" sz="2000" dirty="0">
              <a:solidFill>
                <a:schemeClr val="tx1"/>
              </a:solidFill>
            </a:endParaRPr>
          </a:p>
          <a:p>
            <a:pPr marL="342900" lvl="0" indent="-342900" algn="l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«Посібник користувача», що містить інструкції з використання програми.</a:t>
            </a:r>
            <a:endParaRPr lang="uk-UA" sz="2000" dirty="0">
              <a:solidFill>
                <a:schemeClr val="tx1"/>
              </a:solidFill>
            </a:endParaRPr>
          </a:p>
          <a:p>
            <a:pPr lvl="0" algn="l"/>
            <a:endParaRPr lang="ru-RU" sz="2000" dirty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uk-UA" sz="2000" dirty="0">
                <a:solidFill>
                  <a:schemeClr val="tx1"/>
                </a:solidFill>
              </a:rPr>
              <a:t>Повідомлення про некоректно введені дані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755576" y="260648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Опис</a:t>
            </a:r>
            <a:r>
              <a:rPr lang="ru-RU" b="1" dirty="0"/>
              <a:t> </a:t>
            </a:r>
            <a:r>
              <a:rPr lang="ru-RU" b="1" dirty="0" err="1"/>
              <a:t>користувацького</a:t>
            </a:r>
            <a:r>
              <a:rPr lang="ru-RU" b="1" dirty="0"/>
              <a:t> </a:t>
            </a:r>
            <a:r>
              <a:rPr lang="ru-RU" b="1" dirty="0" err="1"/>
              <a:t>інтерфейсу</a:t>
            </a:r>
            <a:br>
              <a:rPr lang="ru-RU" dirty="0"/>
            </a:b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568952" cy="5904656"/>
          </a:xfrm>
        </p:spPr>
        <p:txBody>
          <a:bodyPr>
            <a:normAutofit/>
          </a:bodyPr>
          <a:lstStyle/>
          <a:p>
            <a:pPr algn="l"/>
            <a:r>
              <a:rPr lang="uk-UA" sz="2400" dirty="0">
                <a:solidFill>
                  <a:schemeClr val="tx1"/>
                </a:solidFill>
              </a:rPr>
              <a:t>Після авторизації як адміністратор, в консоль виводитися меню, що складається з 10 пунктів. В якому адміністратор може додавати, редагувати, видаляти, переглядати, шукати, сортувати, фільтрувати товар, керувати обліковими записами, вийти з облікового запису.</a:t>
            </a:r>
            <a:endParaRPr lang="uk-UA" sz="2400" dirty="0">
              <a:solidFill>
                <a:schemeClr val="tx1"/>
              </a:solidFill>
            </a:endParaRPr>
          </a:p>
          <a:p>
            <a:pPr algn="l"/>
            <a:r>
              <a:rPr lang="uk-UA" sz="2400" dirty="0">
                <a:solidFill>
                  <a:schemeClr val="tx1"/>
                </a:solidFill>
              </a:rPr>
              <a:t>Після виборо пункту 9 адміністратора перекидую у меню керування обліковими записами. В якому адміністратор може переглянути, створити, видалити коростувача.</a:t>
            </a:r>
            <a:endParaRPr lang="uk-UA" sz="2400" dirty="0">
              <a:solidFill>
                <a:schemeClr val="tx1"/>
              </a:solidFill>
            </a:endParaRPr>
          </a:p>
          <a:p>
            <a:pPr algn="l"/>
            <a:r>
              <a:rPr lang="uk-UA" sz="2400" dirty="0">
                <a:solidFill>
                  <a:schemeClr val="tx1"/>
                </a:solidFill>
              </a:rPr>
              <a:t>Якщо ми авторизуємось як користувач</a:t>
            </a:r>
            <a:r>
              <a:rPr lang="en-US" sz="2400" dirty="0">
                <a:solidFill>
                  <a:schemeClr val="tx1"/>
                </a:solidFill>
              </a:rPr>
              <a:t> </a:t>
            </a:r>
            <a:r>
              <a:rPr lang="uk-UA" altLang="en-US" sz="2400" dirty="0">
                <a:solidFill>
                  <a:schemeClr val="tx1"/>
                </a:solidFill>
              </a:rPr>
              <a:t>консоль нам виведить меню касира у якому користувач може оформити покупку, переглянути всі товари і пошук товарів.</a:t>
            </a:r>
            <a:r>
              <a:rPr lang="uk-UA" sz="2400" dirty="0">
                <a:solidFill>
                  <a:schemeClr val="tx1"/>
                </a:solidFill>
              </a:rPr>
              <a:t> Також у користувача є окремий пункт з описом як працювати з програмаю.</a:t>
            </a:r>
            <a:endParaRPr lang="uk-UA" sz="2400" dirty="0">
              <a:solidFill>
                <a:schemeClr val="tx1"/>
              </a:solidFill>
            </a:endParaRPr>
          </a:p>
          <a:p>
            <a:pPr algn="l"/>
            <a:endParaRPr lang="uk-UA" sz="2400" dirty="0">
              <a:solidFill>
                <a:schemeClr val="tx1"/>
              </a:solidFill>
            </a:endParaRPr>
          </a:p>
          <a:p>
            <a:pPr algn="l"/>
            <a:r>
              <a:rPr lang="uk-UA" sz="2400" dirty="0">
                <a:solidFill>
                  <a:schemeClr val="tx1"/>
                </a:solidFill>
              </a:rPr>
              <a:t>  </a:t>
            </a:r>
            <a:endParaRPr lang="ru-R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95536" y="692696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Опис</a:t>
            </a:r>
            <a:r>
              <a:rPr lang="ru-RU" b="1" dirty="0"/>
              <a:t> </a:t>
            </a:r>
            <a:r>
              <a:rPr lang="ru-RU" b="1" dirty="0" err="1"/>
              <a:t>користувацького</a:t>
            </a:r>
            <a:r>
              <a:rPr lang="ru-RU" b="1" dirty="0"/>
              <a:t> </a:t>
            </a:r>
            <a:r>
              <a:rPr lang="ru-RU" b="1" dirty="0" err="1"/>
              <a:t>інтерфейсу</a:t>
            </a:r>
            <a:br>
              <a:rPr lang="ru-RU" dirty="0"/>
            </a:br>
            <a:br>
              <a:rPr lang="ru-RU" dirty="0"/>
            </a:b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2843599" y="4077335"/>
            <a:ext cx="40386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uk-UA" dirty="0"/>
          </a:p>
          <a:p>
            <a:r>
              <a:rPr lang="uk-UA" dirty="0"/>
              <a:t>Рисунок 5 – меню адміністратора</a:t>
            </a:r>
            <a:endParaRPr lang="uk-UA" dirty="0"/>
          </a:p>
        </p:txBody>
      </p:sp>
      <p:pic>
        <p:nvPicPr>
          <p:cNvPr id="4" name="Content Placeholder 3"/>
          <p:cNvPicPr>
            <a:picLocks noChangeAspect="1"/>
          </p:cNvPicPr>
          <p:nvPr>
            <p:ph sz="half" idx="1"/>
          </p:nvPr>
        </p:nvPicPr>
        <p:blipFill>
          <a:blip r:embed="rId1"/>
          <a:stretch>
            <a:fillRect/>
          </a:stretch>
        </p:blipFill>
        <p:spPr>
          <a:xfrm>
            <a:off x="3134995" y="1268730"/>
            <a:ext cx="2880360" cy="26441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331" y="4221192"/>
            <a:ext cx="713522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Рисунок 7 – вивід всіх товарів</a:t>
            </a:r>
            <a:endParaRPr lang="en-US" altLang="uk-UA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" y="188595"/>
            <a:ext cx="5158740" cy="36957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" y="188595"/>
            <a:ext cx="4168140" cy="172212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251460" y="2161540"/>
            <a:ext cx="48418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uk-UA" altLang="en-US"/>
              <a:t>Рисунок 8 </a:t>
            </a:r>
            <a:r>
              <a:rPr lang="uk-UA" dirty="0">
                <a:sym typeface="+mn-ea"/>
              </a:rPr>
              <a:t>– </a:t>
            </a:r>
            <a:r>
              <a:rPr lang="uk-UA" dirty="0">
                <a:sym typeface="+mn-ea"/>
              </a:rPr>
              <a:t>додавання товару до бд</a:t>
            </a:r>
            <a:r>
              <a:rPr lang="uk-UA" altLang="en-US"/>
              <a:t> </a:t>
            </a:r>
            <a:endParaRPr lang="uk-UA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" y="2564765"/>
            <a:ext cx="4396740" cy="1295400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251460" y="4221480"/>
            <a:ext cx="40614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uk-UA" altLang="en-US"/>
              <a:t>Рисунок 9 </a:t>
            </a:r>
            <a:r>
              <a:rPr lang="uk-UA" dirty="0">
                <a:sym typeface="+mn-ea"/>
              </a:rPr>
              <a:t>– редагування товару</a:t>
            </a:r>
            <a:endParaRPr lang="uk-UA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" y="4589780"/>
            <a:ext cx="3726180" cy="1059180"/>
          </a:xfrm>
          <a:prstGeom prst="rect">
            <a:avLst/>
          </a:prstGeom>
        </p:spPr>
      </p:pic>
      <p:sp>
        <p:nvSpPr>
          <p:cNvPr id="10" name="Text Box 9"/>
          <p:cNvSpPr txBox="1"/>
          <p:nvPr/>
        </p:nvSpPr>
        <p:spPr>
          <a:xfrm>
            <a:off x="251460" y="5877560"/>
            <a:ext cx="4572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uk-UA" altLang="en-US">
                <a:sym typeface="+mn-ea"/>
              </a:rPr>
              <a:t>Рисунок 10 </a:t>
            </a:r>
            <a:r>
              <a:rPr lang="uk-UA" dirty="0">
                <a:sym typeface="+mn-ea"/>
              </a:rPr>
              <a:t>– видалення товару</a:t>
            </a:r>
            <a:endParaRPr lang="uk-UA" dirty="0"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79705" y="1197292"/>
            <a:ext cx="72008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Рисунок 11 – пошук товару</a:t>
            </a:r>
            <a:endParaRPr lang="uk-UA" dirty="0"/>
          </a:p>
          <a:p>
            <a:endParaRPr lang="uk-UA" dirty="0"/>
          </a:p>
        </p:txBody>
      </p:sp>
      <p:sp>
        <p:nvSpPr>
          <p:cNvPr id="10" name="TextBox 9"/>
          <p:cNvSpPr txBox="1"/>
          <p:nvPr/>
        </p:nvSpPr>
        <p:spPr>
          <a:xfrm>
            <a:off x="179705" y="2421286"/>
            <a:ext cx="7200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Рисунок 12 – сортування товару</a:t>
            </a:r>
            <a:endParaRPr lang="uk-UA" dirty="0"/>
          </a:p>
        </p:txBody>
      </p:sp>
      <p:sp>
        <p:nvSpPr>
          <p:cNvPr id="13" name="TextBox 12"/>
          <p:cNvSpPr txBox="1"/>
          <p:nvPr/>
        </p:nvSpPr>
        <p:spPr>
          <a:xfrm>
            <a:off x="251471" y="5156664"/>
            <a:ext cx="72008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Рисунок 13 – фільтрування товару</a:t>
            </a:r>
            <a:endParaRPr lang="uk-UA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705" y="188595"/>
            <a:ext cx="6332220" cy="6858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705" y="1701165"/>
            <a:ext cx="5196840" cy="46482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070" y="2853055"/>
            <a:ext cx="6324600" cy="19964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266" y="4581366"/>
            <a:ext cx="7211431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Рисунок 15 – інвентаризація залишків</a:t>
            </a:r>
            <a:endParaRPr lang="uk-UA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" y="260985"/>
            <a:ext cx="6217920" cy="39471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649" y="1844546"/>
            <a:ext cx="5112568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/>
              <a:t>Рисунок 1</a:t>
            </a:r>
            <a:r>
              <a:rPr lang="en-US" altLang="uk-UA" dirty="0"/>
              <a:t>6</a:t>
            </a:r>
            <a:r>
              <a:rPr lang="uk-UA" dirty="0"/>
              <a:t> – меню користувача без прав адміністратора</a:t>
            </a:r>
            <a:endParaRPr lang="uk-UA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" y="260985"/>
            <a:ext cx="3802380" cy="12725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11560" y="-171400"/>
            <a:ext cx="7772400" cy="1470025"/>
          </a:xfrm>
        </p:spPr>
        <p:txBody>
          <a:bodyPr/>
          <a:lstStyle/>
          <a:p>
            <a:r>
              <a:rPr lang="uk-UA" b="1" dirty="0"/>
              <a:t>Висновок:</a:t>
            </a:r>
            <a:endParaRPr lang="ru-RU" b="1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69022" y="908720"/>
            <a:ext cx="8856984" cy="5760640"/>
          </a:xfrm>
        </p:spPr>
        <p:txBody>
          <a:bodyPr>
            <a:noAutofit/>
          </a:bodyPr>
          <a:lstStyle/>
          <a:p>
            <a:pPr algn="l"/>
            <a:r>
              <a:rPr lang="en-US" altLang="en-US" sz="1800" dirty="0">
                <a:solidFill>
                  <a:schemeClr val="tx1"/>
                </a:solidFill>
              </a:rPr>
              <a:t>У результаті виконання курсового проєкту розроблена система управління базою автомобілів для комп’ютерів, які працюють під керуванням ОС Windows.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algn="l"/>
            <a:r>
              <a:rPr lang="en-US" altLang="en-US" sz="1800" dirty="0">
                <a:solidFill>
                  <a:schemeClr val="tx1"/>
                </a:solidFill>
              </a:rPr>
              <a:t>У розробленому </a:t>
            </a:r>
            <a:r>
              <a:rPr lang="en-US" altLang="en-US" sz="1800" dirty="0">
                <a:solidFill>
                  <a:schemeClr val="tx1"/>
                </a:solidFill>
              </a:rPr>
              <a:t>програмному забезпечені передбачено: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</a:rPr>
              <a:t>Подання даних користувачем у консолі.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Збереження даних у файл.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uk-UA" altLang="en-US" sz="1800" dirty="0">
                <a:solidFill>
                  <a:schemeClr val="tx1"/>
                </a:solidFill>
                <a:sym typeface="+mn-ea"/>
              </a:rPr>
              <a:t> </a:t>
            </a: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Зчитування даних з файлу.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Додавання нових товарів.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Редагування доданих товарів.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Видалення товарів.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Перегляд всіх товарів.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Пошук товарів.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Сортування товарів.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Фільтрування товарів</a:t>
            </a:r>
            <a:r>
              <a:rPr lang="uk-UA" altLang="en-US" sz="1800" dirty="0">
                <a:solidFill>
                  <a:schemeClr val="tx1"/>
                </a:solidFill>
                <a:sym typeface="+mn-ea"/>
              </a:rPr>
              <a:t>.</a:t>
            </a:r>
            <a:endParaRPr lang="uk-UA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Оформлення покупки.</a:t>
            </a:r>
            <a:endParaRPr lang="en-US" altLang="en-US" sz="1800" dirty="0">
              <a:solidFill>
                <a:schemeClr val="tx1"/>
              </a:solidFill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en-US" sz="1800" dirty="0">
                <a:solidFill>
                  <a:schemeClr val="tx1"/>
                </a:solidFill>
                <a:sym typeface="+mn-ea"/>
              </a:rPr>
              <a:t>Виведення інструкції (Help).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algn="l"/>
            <a:r>
              <a:rPr lang="en-US" altLang="en-US" sz="1800" dirty="0">
                <a:solidFill>
                  <a:schemeClr val="tx1"/>
                </a:solidFill>
              </a:rPr>
              <a:t>Дана розробка у майбутньому може бути розширена із додаванням нового функціоналу і видозміненою логікою обробки.</a:t>
            </a:r>
            <a:endParaRPr lang="en-US" altLang="en-US" sz="18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3917</Words>
  <Application>WPS Presentation</Application>
  <PresentationFormat>Екран (4:3)</PresentationFormat>
  <Paragraphs>112</Paragraphs>
  <Slides>15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2" baseType="lpstr">
      <vt:lpstr>Arial</vt:lpstr>
      <vt:lpstr>SimSun</vt:lpstr>
      <vt:lpstr>Wingdings</vt:lpstr>
      <vt:lpstr>Calibri</vt:lpstr>
      <vt:lpstr>Microsoft YaHei</vt:lpstr>
      <vt:lpstr>Arial Unicode MS</vt:lpstr>
      <vt:lpstr>Тема Office</vt:lpstr>
      <vt:lpstr>КУРСОВИЙ ПРОЄКТ на тему: Система управління базою даних «Автомобіль» </vt:lpstr>
      <vt:lpstr>Мета роботи та постановка задачі</vt:lpstr>
      <vt:lpstr>Вихідні дані до проєкту  </vt:lpstr>
      <vt:lpstr>Модулі (класи) програми  </vt:lpstr>
      <vt:lpstr>Алгоритми роботи програми  </vt:lpstr>
      <vt:lpstr>.</vt:lpstr>
      <vt:lpstr>Вимоги до консольного інтерфейсу користувача</vt:lpstr>
      <vt:lpstr>Опис користувацького інтерфейсу  </vt:lpstr>
      <vt:lpstr>Опис користувацького інтерфейсу 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Висновок: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КУРСОВИЙ ПРОЄКТ на тему: Система управління базою замовлення страв в ресторані</dc:title>
  <dc:creator>Настя Яковенко</dc:creator>
  <cp:lastModifiedBy>Кирилюк Максим</cp:lastModifiedBy>
  <cp:revision>14</cp:revision>
  <dcterms:created xsi:type="dcterms:W3CDTF">2024-10-28T20:35:00Z</dcterms:created>
  <dcterms:modified xsi:type="dcterms:W3CDTF">2025-11-22T13:33:12Z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8ECE19A5CA034C2CBCE509874A59C30A_13</vt:lpwstr>
  </property>
  <property fmtid="{D5CDD505-2E9C-101B-9397-08002B2CF9AE}" pid="3" name="KSOProductBuildVer">
    <vt:lpwstr>1033-12.2.0.23155</vt:lpwstr>
  </property>
</Properties>
</file>