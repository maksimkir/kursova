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72" r:id="rId5"/>
    <p:sldId id="273" r:id="rId6"/>
    <p:sldId id="274" r:id="rId7"/>
    <p:sldId id="275" r:id="rId8"/>
    <p:sldId id="276" r:id="rId9"/>
    <p:sldId id="260" r:id="rId10"/>
    <p:sldId id="261" r:id="rId11"/>
    <p:sldId id="271" r:id="rId12"/>
    <p:sldId id="259" r:id="rId13"/>
    <p:sldId id="258" r:id="rId14"/>
    <p:sldId id="264" r:id="rId15"/>
    <p:sldId id="265" r:id="rId16"/>
    <p:sldId id="266" r:id="rId17"/>
    <p:sldId id="267" r:id="rId19"/>
    <p:sldId id="270" r:id="rId20"/>
    <p:sldId id="268" r:id="rId21"/>
    <p:sldId id="269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14" autoAdjust="0"/>
  </p:normalViewPr>
  <p:slideViewPr>
    <p:cSldViewPr showGuides="1">
      <p:cViewPr varScale="1">
        <p:scale>
          <a:sx n="92" d="100"/>
          <a:sy n="92" d="100"/>
        </p:scale>
        <p:origin x="1186" y="101"/>
      </p:cViewPr>
      <p:guideLst>
        <p:guide orient="horz" pos="2160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BFC75-8165-4E25-8EDD-59ED2BB2BB35}" type="datetimeFigureOut">
              <a:rPr lang="uk-UA" smtClean="0"/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CBB1E-C060-4423-8797-60E1E517A549}" type="slidenum">
              <a:rPr lang="uk-UA" smtClean="0"/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CBB1E-C060-4423-8797-60E1E517A549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CBB1E-C060-4423-8797-60E1E517A549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КУРСОВИЙ ПРОЄКТ</a:t>
            </a:r>
            <a:br>
              <a:rPr lang="ru-RU" sz="3600" b="1" dirty="0"/>
            </a:br>
            <a:r>
              <a:rPr lang="ru-RU" sz="3600" b="1" dirty="0"/>
              <a:t>на тему: </a:t>
            </a:r>
            <a:r>
              <a:rPr lang="uk-UA" altLang="ru-RU" sz="3600" b="1" dirty="0"/>
              <a:t>Система втоматизації складу товарів</a:t>
            </a:r>
            <a:endParaRPr lang="uk-UA" altLang="ru-RU" sz="36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sz="4500" dirty="0">
                <a:solidFill>
                  <a:schemeClr val="tx1"/>
                </a:solidFill>
              </a:rPr>
              <a:t>з </a:t>
            </a:r>
            <a:r>
              <a:rPr lang="ru-RU" sz="4500" dirty="0" err="1">
                <a:solidFill>
                  <a:schemeClr val="tx1"/>
                </a:solidFill>
              </a:rPr>
              <a:t>дисципліни</a:t>
            </a:r>
            <a:br>
              <a:rPr lang="ru-RU" sz="4500" dirty="0">
                <a:solidFill>
                  <a:schemeClr val="tx1"/>
                </a:solidFill>
              </a:rPr>
            </a:br>
            <a:r>
              <a:rPr lang="ru-RU" sz="4500" dirty="0">
                <a:solidFill>
                  <a:schemeClr val="tx1"/>
                </a:solidFill>
              </a:rPr>
              <a:t>СТРУКТУРИ ДАНИХ, АЛГОРИТМИ</a:t>
            </a:r>
            <a:endParaRPr lang="ru-RU" sz="4500" dirty="0">
              <a:solidFill>
                <a:schemeClr val="tx1"/>
              </a:solidFill>
            </a:endParaRPr>
          </a:p>
          <a:p>
            <a:r>
              <a:rPr lang="ru-RU" sz="4500" dirty="0">
                <a:solidFill>
                  <a:schemeClr val="tx1"/>
                </a:solidFill>
              </a:rPr>
              <a:t>ТА ОБ’ЄКТНО-ОРІЄНТОВАНА ПАРАДИГМА</a:t>
            </a:r>
            <a:endParaRPr lang="ru-RU" sz="4500" dirty="0">
              <a:solidFill>
                <a:schemeClr val="tx1"/>
              </a:solidFill>
            </a:endParaRPr>
          </a:p>
          <a:p>
            <a:br>
              <a:rPr lang="ru-RU" sz="4500" dirty="0">
                <a:solidFill>
                  <a:schemeClr val="tx1"/>
                </a:solidFill>
              </a:rPr>
            </a:br>
            <a:br>
              <a:rPr lang="ru-RU" dirty="0"/>
            </a:br>
            <a:endParaRPr lang="ru-RU" dirty="0"/>
          </a:p>
          <a:p>
            <a:pPr algn="r"/>
            <a:br>
              <a:rPr lang="ru-RU" dirty="0"/>
            </a:br>
            <a:r>
              <a:rPr lang="ru-RU" dirty="0"/>
              <a:t>                                                            </a:t>
            </a:r>
            <a:r>
              <a:rPr lang="ru-RU" sz="4400" dirty="0" err="1">
                <a:solidFill>
                  <a:schemeClr val="tx1"/>
                </a:solidFill>
              </a:rPr>
              <a:t>Викона</a:t>
            </a:r>
            <a:r>
              <a:rPr lang="uk-UA" sz="4400" dirty="0">
                <a:solidFill>
                  <a:schemeClr val="tx1"/>
                </a:solidFill>
              </a:rPr>
              <a:t>в</a:t>
            </a:r>
            <a:r>
              <a:rPr lang="en-US" sz="4400" dirty="0">
                <a:solidFill>
                  <a:schemeClr val="tx1"/>
                </a:solidFill>
              </a:rPr>
              <a:t>:</a:t>
            </a:r>
            <a:r>
              <a:rPr lang="uk-UA" sz="4400" dirty="0">
                <a:solidFill>
                  <a:schemeClr val="tx1"/>
                </a:solidFill>
              </a:rPr>
              <a:t> Кирилюк Максим Олександрович</a:t>
            </a:r>
            <a:endParaRPr lang="uk-UA" sz="4400" dirty="0">
              <a:solidFill>
                <a:schemeClr val="tx1"/>
              </a:solidFill>
            </a:endParaRPr>
          </a:p>
          <a:p>
            <a:pPr algn="r"/>
            <a:endParaRPr lang="ru-RU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468560" y="260648"/>
            <a:ext cx="10009112" cy="1470025"/>
          </a:xfrm>
        </p:spPr>
        <p:txBody>
          <a:bodyPr>
            <a:normAutofit/>
          </a:bodyPr>
          <a:lstStyle/>
          <a:p>
            <a:r>
              <a:rPr lang="uk-UA" altLang="ru-RU" sz="3600" b="1" dirty="0">
                <a:latin typeface="Calibri" panose="020F0502020204030204" charset="0"/>
                <a:cs typeface="Calibri" panose="020F0502020204030204" charset="0"/>
              </a:rPr>
              <a:t>Мета та завдання</a:t>
            </a:r>
            <a:endParaRPr lang="uk-UA" altLang="ru-RU" sz="3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1700808"/>
            <a:ext cx="8424936" cy="54006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uk-UA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Мета:</a:t>
            </a:r>
            <a:r>
              <a:rPr lang="uk-UA" sz="20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uk-UA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полягає у розробці консольного інструмента для електронного кадрового обліку. Демонстрація практичного застосування Обєктно-орієнтованого програмування (ООП та ефективного використання Структур Даних (</a:t>
            </a:r>
            <a:r>
              <a:rPr 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STL)</a:t>
            </a:r>
            <a:r>
              <a:rPr lang="uk-UA" alt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.</a:t>
            </a:r>
            <a:endParaRPr lang="ru-RU" sz="24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uk-UA" altLang="ru-RU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Завдання:</a:t>
            </a:r>
            <a:r>
              <a:rPr lang="uk-UA" altLang="ru-RU" sz="20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uk-UA" altLang="ru-RU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В базу даних заносяться дані про товар: ціна, залишок, дата завезення. Результати пошуку товару та сортування  та фільтрацію за різними параметри</a:t>
            </a:r>
            <a:endParaRPr lang="uk-UA" altLang="ru-RU" sz="24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uk-UA" altLang="en-US" sz="3600" b="1"/>
              <a:t>Інструментальні засоби</a:t>
            </a:r>
            <a:endParaRPr lang="uk-UA" altLang="en-US"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1557020"/>
            <a:ext cx="3869690" cy="4645025"/>
          </a:xfrm>
        </p:spPr>
        <p:txBody>
          <a:bodyPr/>
          <a:p>
            <a:r>
              <a:rPr lang="en-US" altLang="uk-UA" sz="2800"/>
              <a:t>OC Windows</a:t>
            </a:r>
            <a:endParaRPr lang="en-US" altLang="uk-UA" sz="2800"/>
          </a:p>
          <a:p>
            <a:r>
              <a:rPr lang="en-US" altLang="uk-UA" sz="2800"/>
              <a:t>CSV-</a:t>
            </a:r>
            <a:r>
              <a:rPr lang="uk-UA" altLang="uk-UA" sz="2800"/>
              <a:t>файл</a:t>
            </a:r>
            <a:endParaRPr lang="uk-UA" altLang="uk-UA" sz="2800"/>
          </a:p>
          <a:p>
            <a:r>
              <a:rPr lang="uk-UA" altLang="uk-UA" sz="2800"/>
              <a:t>С++</a:t>
            </a:r>
            <a:endParaRPr lang="uk-UA" altLang="uk-UA" sz="2800"/>
          </a:p>
          <a:p>
            <a:r>
              <a:rPr lang="en-US" altLang="uk-UA" sz="2800"/>
              <a:t>Clion</a:t>
            </a:r>
            <a:endParaRPr lang="en-US" altLang="uk-UA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05"/>
            <a:ext cx="8229600" cy="707390"/>
          </a:xfrm>
        </p:spPr>
        <p:txBody>
          <a:bodyPr/>
          <a:p>
            <a:r>
              <a:rPr lang="uk-UA" sz="3600" b="1"/>
              <a:t>Сценарій використання</a:t>
            </a:r>
            <a:endParaRPr lang="uk-UA" sz="36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620395"/>
            <a:ext cx="4446270" cy="2354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755" y="620395"/>
            <a:ext cx="4329430" cy="2343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" y="3284855"/>
            <a:ext cx="4377055" cy="27349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755" y="3284855"/>
            <a:ext cx="4329430" cy="2734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260350"/>
            <a:ext cx="4160520" cy="2657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260350"/>
            <a:ext cx="4394835" cy="2657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5" y="3284855"/>
            <a:ext cx="4126865" cy="30124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245" y="3284855"/>
            <a:ext cx="4394200" cy="3013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260350"/>
            <a:ext cx="4184015" cy="29832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40" y="320040"/>
            <a:ext cx="4148455" cy="29229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5" y="3644900"/>
            <a:ext cx="4184015" cy="2838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240" y="3644900"/>
            <a:ext cx="4137660" cy="2839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404495"/>
            <a:ext cx="4488180" cy="2705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Алгоритми</a:t>
            </a:r>
            <a:r>
              <a:rPr lang="ru-RU" b="1" dirty="0"/>
              <a:t> </a:t>
            </a:r>
            <a:r>
              <a:rPr lang="ru-RU" b="1" dirty="0" err="1"/>
              <a:t>роботи</a:t>
            </a:r>
            <a:r>
              <a:rPr lang="ru-RU" b="1" dirty="0"/>
              <a:t> </a:t>
            </a:r>
            <a:r>
              <a:rPr lang="ru-RU" b="1" dirty="0" err="1"/>
              <a:t>програми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23528" y="980728"/>
            <a:ext cx="4038600" cy="4525963"/>
          </a:xfrm>
        </p:spPr>
        <p:txBody>
          <a:bodyPr>
            <a:normAutofit/>
          </a:bodyPr>
          <a:lstStyle/>
          <a:p>
            <a:r>
              <a:rPr lang="uk-UA" sz="1600" dirty="0"/>
              <a:t>Рисунок 1 – Узагальнена блок-схема алгоритму додавання  об’єкту</a:t>
            </a:r>
            <a:endParaRPr lang="uk-UA" sz="1600" dirty="0"/>
          </a:p>
          <a:p>
            <a:endParaRPr lang="ru-RU" sz="16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99992" y="980728"/>
            <a:ext cx="4038600" cy="4525963"/>
          </a:xfrm>
        </p:spPr>
        <p:txBody>
          <a:bodyPr>
            <a:normAutofit/>
          </a:bodyPr>
          <a:lstStyle/>
          <a:p>
            <a:r>
              <a:rPr lang="uk-UA" sz="1600" dirty="0"/>
              <a:t>Рисунок 2 – Узагальнена блок-схема алгоритму редагування об’єкту</a:t>
            </a:r>
            <a:endParaRPr lang="uk-UA" sz="1600" dirty="0"/>
          </a:p>
          <a:p>
            <a:endParaRPr lang="ru-RU" sz="1600" dirty="0"/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085" y="1772285"/>
            <a:ext cx="1814830" cy="420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990" y="1916430"/>
            <a:ext cx="1898015" cy="4339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30860" y="404495"/>
            <a:ext cx="3830955" cy="673100"/>
          </a:xfrm>
        </p:spPr>
        <p:txBody>
          <a:bodyPr/>
          <a:lstStyle/>
          <a:p>
            <a:r>
              <a:rPr lang="uk-UA" sz="1600" dirty="0"/>
              <a:t>Рисунок 3 – Узагальнена блок-схема алгоритму видалення об’єкта</a:t>
            </a:r>
            <a:endParaRPr lang="ru-RU" sz="16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0" y="404495"/>
            <a:ext cx="4038600" cy="826135"/>
          </a:xfrm>
        </p:spPr>
        <p:txBody>
          <a:bodyPr/>
          <a:lstStyle/>
          <a:p>
            <a:r>
              <a:rPr lang="uk-UA" sz="1600" dirty="0"/>
              <a:t>Рисунок 4 – Узагальнена блок-схема алгоритму перегляду доданих об’єктів та їх сортування</a:t>
            </a:r>
            <a:endParaRPr lang="ru-RU" sz="16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275" y="1484630"/>
            <a:ext cx="2523490" cy="432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885" y="1340485"/>
            <a:ext cx="2831465" cy="474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7270" y="332740"/>
            <a:ext cx="3991610" cy="812800"/>
          </a:xfrm>
        </p:spPr>
        <p:txBody>
          <a:bodyPr>
            <a:normAutofit lnSpcReduction="10000"/>
          </a:bodyPr>
          <a:p>
            <a:r>
              <a:rPr lang="en-US" altLang="en-US" sz="1600"/>
              <a:t>Рисунок</a:t>
            </a:r>
            <a:r>
              <a:rPr lang="en-US" altLang="en-US" sz="1600"/>
              <a:t> </a:t>
            </a:r>
            <a:r>
              <a:rPr lang="en-US" altLang="en-US" sz="1600"/>
              <a:t>5</a:t>
            </a:r>
            <a:r>
              <a:rPr lang="en-US" altLang="en-US" sz="1600"/>
              <a:t> </a:t>
            </a:r>
            <a:r>
              <a:rPr lang="en-US" altLang="en-US" sz="1600"/>
              <a:t>– Узагальнена блок-схема алгоритму перегляду доданих об’єктів та їх</a:t>
            </a:r>
            <a:r>
              <a:rPr lang="en-US" altLang="en-US" sz="1600"/>
              <a:t> </a:t>
            </a:r>
            <a:r>
              <a:rPr lang="en-US" altLang="en-US" sz="1600"/>
              <a:t>пошуку</a:t>
            </a:r>
            <a:endParaRPr lang="en-US" altLang="en-US" sz="160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920" y="1145540"/>
            <a:ext cx="3024505" cy="5497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470025"/>
          </a:xfrm>
        </p:spPr>
        <p:txBody>
          <a:bodyPr>
            <a:normAutofit fontScale="90000"/>
          </a:bodyPr>
          <a:lstStyle/>
          <a:p>
            <a:r>
              <a:rPr sz="4000" b="1">
                <a:latin typeface="Calibri" panose="020F0502020204030204"/>
                <a:sym typeface="+mn-ea"/>
              </a:rPr>
              <a:t>Класи бізнес-логіки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980728"/>
            <a:ext cx="8568952" cy="5688632"/>
          </a:xfrm>
        </p:spPr>
        <p:txBody>
          <a:bodyPr>
            <a:normAutofit fontScale="50000"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altLang="en-US" dirty="0">
                <a:solidFill>
                  <a:schemeClr val="tx1"/>
                </a:solidFill>
              </a:rPr>
              <a:t>Product / StoreItem</a:t>
            </a:r>
            <a:r>
              <a:rPr lang="uk-UA" alt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–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б</a:t>
            </a:r>
            <a:r>
              <a:rPr lang="en-US" altLang="en-US" dirty="0">
                <a:solidFill>
                  <a:schemeClr val="tx1"/>
                </a:solidFill>
              </a:rPr>
              <a:t>азова сутність. Моделює одиничний товар на складі</a:t>
            </a:r>
            <a:r>
              <a:rPr lang="uk-UA" dirty="0">
                <a:solidFill>
                  <a:schemeClr val="tx1"/>
                </a:solidFill>
              </a:rPr>
              <a:t>.</a:t>
            </a:r>
            <a:endParaRPr lang="uk-UA" dirty="0">
              <a:solidFill>
                <a:schemeClr val="tx1"/>
              </a:solidFill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altLang="en-US" dirty="0">
                <a:solidFill>
                  <a:schemeClr val="tx1"/>
                </a:solidFill>
              </a:rPr>
              <a:t>StoreManager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en-US" altLang="en-US" dirty="0">
                <a:solidFill>
                  <a:schemeClr val="tx1"/>
                </a:solidFill>
              </a:rPr>
              <a:t>Керування колекцією товарів. Реалізує бізнес-логіку: CRUD-операції, завантаження/збереження, пошук, сортування та фільтрація.</a:t>
            </a:r>
            <a:endParaRPr lang="uk-UA" dirty="0">
              <a:solidFill>
                <a:schemeClr val="tx1"/>
              </a:solidFill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altLang="en-US" dirty="0">
                <a:solidFill>
                  <a:schemeClr val="tx1"/>
                </a:solidFill>
              </a:rPr>
              <a:t>IPrintable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uk-UA" altLang="en-US" dirty="0">
                <a:solidFill>
                  <a:schemeClr val="tx1"/>
                </a:solidFill>
              </a:rPr>
              <a:t>і</a:t>
            </a:r>
            <a:r>
              <a:rPr lang="en-US" altLang="en-US" dirty="0">
                <a:solidFill>
                  <a:schemeClr val="tx1"/>
                </a:solidFill>
              </a:rPr>
              <a:t>нтерфейс</a:t>
            </a:r>
            <a:r>
              <a:rPr lang="uk-UA" altLang="en-US" dirty="0">
                <a:solidFill>
                  <a:schemeClr val="tx1"/>
                </a:solidFill>
              </a:rPr>
              <a:t>, в</a:t>
            </a:r>
            <a:r>
              <a:rPr lang="en-US" altLang="en-US" dirty="0">
                <a:solidFill>
                  <a:schemeClr val="tx1"/>
                </a:solidFill>
              </a:rPr>
              <a:t>изначає контракт для поліморфного виводу та запису в БД.</a:t>
            </a:r>
            <a:endParaRPr lang="en-US" altLang="en-US" dirty="0">
              <a:solidFill>
                <a:schemeClr val="tx1"/>
              </a:solidFill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altLang="en-US" dirty="0">
                <a:solidFill>
                  <a:schemeClr val="tx1"/>
                </a:solidFill>
              </a:rPr>
              <a:t>User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uk-UA" altLang="en-US" dirty="0">
                <a:solidFill>
                  <a:schemeClr val="tx1"/>
                </a:solidFill>
              </a:rPr>
              <a:t>б</a:t>
            </a:r>
            <a:r>
              <a:rPr lang="en-US" altLang="en-US" dirty="0">
                <a:solidFill>
                  <a:schemeClr val="tx1"/>
                </a:solidFill>
              </a:rPr>
              <a:t>азовий клас користувача</a:t>
            </a:r>
            <a:r>
              <a:rPr lang="uk-UA" altLang="en-US" dirty="0">
                <a:solidFill>
                  <a:schemeClr val="tx1"/>
                </a:solidFill>
              </a:rPr>
              <a:t>,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uk-UA" altLang="en-US" dirty="0">
                <a:solidFill>
                  <a:schemeClr val="tx1"/>
                </a:solidFill>
              </a:rPr>
              <a:t>м</a:t>
            </a:r>
            <a:r>
              <a:rPr lang="en-US" altLang="en-US" dirty="0">
                <a:solidFill>
                  <a:schemeClr val="tx1"/>
                </a:solidFill>
              </a:rPr>
              <a:t>істить загальні атрибути та, ймовірно, методи авторизації.</a:t>
            </a:r>
            <a:endParaRPr lang="en-US" altLang="en-US" dirty="0">
              <a:solidFill>
                <a:schemeClr val="tx1"/>
              </a:solidFill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altLang="en-US" dirty="0">
                <a:solidFill>
                  <a:schemeClr val="tx1"/>
                </a:solidFill>
              </a:rPr>
              <a:t>Admin / BasicUser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uk-UA" altLang="en-US" dirty="0">
                <a:solidFill>
                  <a:schemeClr val="tx1"/>
                </a:solidFill>
              </a:rPr>
              <a:t>к</a:t>
            </a:r>
            <a:r>
              <a:rPr lang="en-US" altLang="en-US" dirty="0">
                <a:solidFill>
                  <a:schemeClr val="tx1"/>
                </a:solidFill>
              </a:rPr>
              <a:t>атегорії користувачів</a:t>
            </a:r>
            <a:r>
              <a:rPr lang="uk-UA" altLang="en-US" dirty="0">
                <a:solidFill>
                  <a:schemeClr val="tx1"/>
                </a:solidFill>
              </a:rPr>
              <a:t>,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uk-UA" altLang="en-US" dirty="0">
                <a:solidFill>
                  <a:schemeClr val="tx1"/>
                </a:solidFill>
              </a:rPr>
              <a:t>в</a:t>
            </a:r>
            <a:r>
              <a:rPr lang="en-US" altLang="en-US" dirty="0">
                <a:solidFill>
                  <a:schemeClr val="tx1"/>
                </a:solidFill>
              </a:rPr>
              <a:t>изначають різні рівні прав доступу до функціоналу програми (наприклад, BasicUser 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– </a:t>
            </a:r>
            <a:r>
              <a:rPr lang="en-US" altLang="en-US" dirty="0">
                <a:solidFill>
                  <a:schemeClr val="tx1"/>
                </a:solidFill>
              </a:rPr>
              <a:t> Касир, Admin 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– </a:t>
            </a:r>
            <a:r>
              <a:rPr lang="en-US" altLang="en-US" dirty="0">
                <a:solidFill>
                  <a:schemeClr val="tx1"/>
                </a:solidFill>
              </a:rPr>
              <a:t> Управління).</a:t>
            </a:r>
            <a:endParaRPr lang="en-US" altLang="en-US" dirty="0">
              <a:solidFill>
                <a:schemeClr val="tx1"/>
              </a:solidFill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AuthManager 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– 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у</a:t>
            </a:r>
            <a:r>
              <a:rPr lang="en-US" altLang="en-US" dirty="0">
                <a:solidFill>
                  <a:schemeClr val="tx1"/>
                </a:solidFill>
              </a:rPr>
              <a:t>правління авторизацією</a:t>
            </a:r>
            <a:r>
              <a:rPr lang="uk-UA" altLang="en-US" dirty="0">
                <a:solidFill>
                  <a:schemeClr val="tx1"/>
                </a:solidFill>
              </a:rPr>
              <a:t>,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uk-UA" altLang="en-US" dirty="0">
                <a:solidFill>
                  <a:schemeClr val="tx1"/>
                </a:solidFill>
              </a:rPr>
              <a:t>к</a:t>
            </a:r>
            <a:r>
              <a:rPr lang="en-US" altLang="en-US" dirty="0">
                <a:solidFill>
                  <a:schemeClr val="tx1"/>
                </a:solidFill>
              </a:rPr>
              <a:t>ерує процесом входу, перевіряє облікові дані та визначає права доступу користувача.</a:t>
            </a:r>
            <a:endParaRPr lang="en-US" altLang="en-US" dirty="0">
              <a:solidFill>
                <a:schemeClr val="tx1"/>
              </a:solidFill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Receipt</a:t>
            </a:r>
            <a:r>
              <a:rPr lang="uk-UA" alt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–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ф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іскальний чек / Квитанція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,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к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лас для моделювання одиниці продажу (транзакції) та фіксації куплених товарів.</a:t>
            </a:r>
            <a:endParaRPr lang="en-US" altLang="en-US" dirty="0">
              <a:solidFill>
                <a:schemeClr val="tx1"/>
              </a:solidFill>
              <a:sym typeface="+mn-ea"/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sym typeface="+mn-ea"/>
              </a:rPr>
              <a:t>SaleProcessor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–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Обробка продажів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,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м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істить логіку оформлення покупки (продажу) та керує створенням об'єктів Receipt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.</a:t>
            </a:r>
            <a:endParaRPr lang="en-US" altLang="en-US" dirty="0">
              <a:solidFill>
                <a:schemeClr val="tx1"/>
              </a:solidFill>
              <a:sym typeface="+mn-ea"/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sym typeface="+mn-ea"/>
              </a:rPr>
              <a:t>Logger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–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Журналювання подій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, в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икористовується для запису важливих операцій або помилок програми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.</a:t>
            </a:r>
            <a:endParaRPr lang="uk-UA" altLang="en-US" dirty="0">
              <a:solidFill>
                <a:schemeClr val="tx1"/>
              </a:solidFill>
              <a:sym typeface="+mn-ea"/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sym typeface="+mn-ea"/>
              </a:rPr>
              <a:t>Configuration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 –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Налаштування програми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,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м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істить конфігураційні параметри, які можуть бути універсальними для Windows та Linux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.</a:t>
            </a:r>
            <a:endParaRPr lang="uk-UA" altLang="en-US" dirty="0">
              <a:solidFill>
                <a:schemeClr val="tx1"/>
              </a:solidFill>
              <a:sym typeface="+mn-ea"/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sym typeface="+mn-ea"/>
              </a:rPr>
              <a:t>main.cpp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sym typeface="+mn-ea"/>
              </a:rPr>
              <a:t>–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Точка входу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,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 </a:t>
            </a:r>
            <a:r>
              <a:rPr lang="uk-UA" altLang="en-US" dirty="0">
                <a:solidFill>
                  <a:schemeClr val="tx1"/>
                </a:solidFill>
                <a:sym typeface="+mn-ea"/>
              </a:rPr>
              <a:t>і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ніціалізує програму, завантажує дані, запускає головне меню та обробляє цикл роботи.</a:t>
            </a:r>
            <a:endParaRPr lang="en-US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605" y="1052830"/>
            <a:ext cx="7780655" cy="756920"/>
          </a:xfrm>
        </p:spPr>
        <p:txBody>
          <a:bodyPr>
            <a:normAutofit fontScale="90000"/>
          </a:bodyPr>
          <a:lstStyle/>
          <a:p>
            <a:r>
              <a:rPr b="1">
                <a:latin typeface="Calibri" panose="020F0502020204030204"/>
                <a:sym typeface="+mn-ea"/>
              </a:rPr>
              <a:t>Фу</a:t>
            </a:r>
            <a:r>
              <a:rPr sz="4000" b="1">
                <a:latin typeface="Calibri" panose="020F0502020204030204"/>
                <a:sym typeface="+mn-ea"/>
              </a:rPr>
              <a:t>нкції </a:t>
            </a:r>
            <a:r>
              <a:rPr b="1">
                <a:latin typeface="Calibri" panose="020F0502020204030204"/>
                <a:sym typeface="+mn-ea"/>
              </a:rPr>
              <a:t>програми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2730" y="1557020"/>
            <a:ext cx="8495665" cy="2891155"/>
          </a:xfrm>
        </p:spPr>
        <p:txBody>
          <a:bodyPr>
            <a:noAutofit/>
          </a:bodyPr>
          <a:lstStyle/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Створення Додавання нових даних або ресурсів.</a:t>
            </a:r>
            <a:endParaRPr lang="uk-UA" sz="2800" dirty="0">
              <a:solidFill>
                <a:srgbClr val="000000"/>
              </a:solidFill>
              <a:latin typeface="Calibri" panose="020F0502020204030204"/>
            </a:endParaRPr>
          </a:p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Отримання, перегляд або пошук існуючих даних.</a:t>
            </a:r>
            <a:endParaRPr lang="uk-UA" sz="2800" dirty="0">
              <a:solidFill>
                <a:srgbClr val="000000"/>
              </a:solidFill>
              <a:latin typeface="Calibri" panose="020F0502020204030204"/>
            </a:endParaRPr>
          </a:p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Редагування або зміна наявних даних.</a:t>
            </a:r>
            <a:r>
              <a:rPr lang="en-US"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 </a:t>
            </a:r>
            <a:endParaRPr lang="en-US" sz="2800" dirty="0">
              <a:solidFill>
                <a:srgbClr val="000000"/>
              </a:solidFill>
              <a:latin typeface="Calibri" panose="020F0502020204030204"/>
            </a:endParaRPr>
          </a:p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Видалення</a:t>
            </a:r>
            <a:endParaRPr lang="en-US" sz="2800" dirty="0">
              <a:solidFill>
                <a:srgbClr val="000000"/>
              </a:solidFill>
              <a:latin typeface="Calibri" panose="020F0502020204030204"/>
            </a:endParaRPr>
          </a:p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rgbClr val="000000"/>
                </a:solidFill>
                <a:latin typeface="Calibri" panose="020F0502020204030204"/>
                <a:sym typeface="+mn-ea"/>
              </a:rPr>
              <a:t>Завантаження</a:t>
            </a:r>
            <a:r>
              <a:rPr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/</a:t>
            </a:r>
            <a:r>
              <a:rPr sz="2800" dirty="0" err="1">
                <a:solidFill>
                  <a:srgbClr val="000000"/>
                </a:solidFill>
                <a:latin typeface="Calibri" panose="020F0502020204030204"/>
                <a:sym typeface="+mn-ea"/>
              </a:rPr>
              <a:t>збереження</a:t>
            </a:r>
            <a:endParaRPr sz="2800" dirty="0">
              <a:solidFill>
                <a:srgbClr val="000000"/>
              </a:solidFill>
              <a:latin typeface="Calibri" panose="020F0502020204030204"/>
            </a:endParaRPr>
          </a:p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rgbClr val="000000"/>
                </a:solidFill>
                <a:latin typeface="Calibri" panose="020F0502020204030204"/>
                <a:sym typeface="+mn-ea"/>
              </a:rPr>
              <a:t>Пошук</a:t>
            </a:r>
            <a:r>
              <a:rPr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Calibri" panose="020F0502020204030204"/>
                <a:sym typeface="+mn-ea"/>
              </a:rPr>
              <a:t>сортування</a:t>
            </a:r>
            <a:r>
              <a:rPr sz="2800" dirty="0">
                <a:solidFill>
                  <a:srgbClr val="000000"/>
                </a:solidFill>
                <a:latin typeface="Calibri" panose="020F0502020204030204"/>
                <a:sym typeface="+mn-ea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Calibri" panose="020F0502020204030204"/>
                <a:sym typeface="+mn-ea"/>
              </a:rPr>
              <a:t>фільтрація</a:t>
            </a:r>
            <a:endParaRPr sz="2800" dirty="0">
              <a:solidFill>
                <a:srgbClr val="000000"/>
              </a:solidFill>
              <a:latin typeface="Calibri" panose="020F0502020204030204"/>
            </a:endParaRPr>
          </a:p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rgbClr val="000000"/>
                </a:solidFill>
                <a:latin typeface="Calibri" panose="020F0502020204030204"/>
                <a:sym typeface="+mn-ea"/>
              </a:rPr>
              <a:t>Авторизація</a:t>
            </a:r>
            <a:endParaRPr lang="ru-RU" sz="2800" dirty="0" err="1">
              <a:solidFill>
                <a:srgbClr val="000000"/>
              </a:solidFill>
              <a:latin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000" b="1" dirty="0" err="1"/>
              <a:t>Опис</a:t>
            </a:r>
            <a:r>
              <a:rPr lang="ru-RU" sz="4000" b="1" dirty="0"/>
              <a:t> </a:t>
            </a:r>
            <a:r>
              <a:rPr lang="ru-RU" sz="4000" b="1" dirty="0" err="1"/>
              <a:t>користувацького</a:t>
            </a:r>
            <a:r>
              <a:rPr lang="ru-RU" sz="4000" b="1" dirty="0"/>
              <a:t> </a:t>
            </a:r>
            <a:r>
              <a:rPr lang="ru-RU" sz="4000" b="1" dirty="0" err="1"/>
              <a:t>інтерфейсу</a:t>
            </a:r>
            <a:br>
              <a:rPr lang="ru-RU" sz="4000" dirty="0"/>
            </a:br>
            <a:br>
              <a:rPr lang="ru-RU" dirty="0"/>
            </a:b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43599" y="4077335"/>
            <a:ext cx="4038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dirty="0"/>
          </a:p>
          <a:p>
            <a:r>
              <a:rPr lang="uk-UA" dirty="0"/>
              <a:t>Рисунок 5 – меню адміністратора</a:t>
            </a:r>
            <a:endParaRPr lang="uk-UA" dirty="0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3134995" y="1268730"/>
            <a:ext cx="2880360" cy="26441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331" y="4221192"/>
            <a:ext cx="71352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7 – вивід всіх товарів</a:t>
            </a:r>
            <a:endParaRPr lang="en-US" altLang="uk-U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88595"/>
            <a:ext cx="515874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88595"/>
            <a:ext cx="4168140" cy="17221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51460" y="2161540"/>
            <a:ext cx="4841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uk-UA" altLang="en-US"/>
              <a:t>Рисунок 8 </a:t>
            </a:r>
            <a:r>
              <a:rPr lang="uk-UA" dirty="0">
                <a:sym typeface="+mn-ea"/>
              </a:rPr>
              <a:t>– </a:t>
            </a:r>
            <a:r>
              <a:rPr lang="uk-UA" dirty="0">
                <a:sym typeface="+mn-ea"/>
              </a:rPr>
              <a:t>додавання товару до бд</a:t>
            </a:r>
            <a:r>
              <a:rPr lang="uk-UA" altLang="en-US"/>
              <a:t> </a:t>
            </a:r>
            <a:endParaRPr lang="uk-UA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564765"/>
            <a:ext cx="4396740" cy="12954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51460" y="4221480"/>
            <a:ext cx="4061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uk-UA" altLang="en-US"/>
              <a:t>Рисунок 9 </a:t>
            </a:r>
            <a:r>
              <a:rPr lang="uk-UA" dirty="0">
                <a:sym typeface="+mn-ea"/>
              </a:rPr>
              <a:t>– редагування товару</a:t>
            </a:r>
            <a:endParaRPr lang="uk-UA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4589780"/>
            <a:ext cx="3726180" cy="105918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251460" y="587756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uk-UA" altLang="en-US">
                <a:sym typeface="+mn-ea"/>
              </a:rPr>
              <a:t>Рисунок 10 </a:t>
            </a:r>
            <a:r>
              <a:rPr lang="uk-UA" dirty="0">
                <a:sym typeface="+mn-ea"/>
              </a:rPr>
              <a:t>– видалення товару</a:t>
            </a:r>
            <a:endParaRPr lang="uk-UA" dirty="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705" y="1197292"/>
            <a:ext cx="7200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11 – пошук товару</a:t>
            </a:r>
            <a:endParaRPr lang="uk-UA" dirty="0"/>
          </a:p>
          <a:p>
            <a:endParaRPr lang="uk-UA" dirty="0"/>
          </a:p>
        </p:txBody>
      </p:sp>
      <p:sp>
        <p:nvSpPr>
          <p:cNvPr id="10" name="TextBox 9"/>
          <p:cNvSpPr txBox="1"/>
          <p:nvPr/>
        </p:nvSpPr>
        <p:spPr>
          <a:xfrm>
            <a:off x="179705" y="2421286"/>
            <a:ext cx="720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12 – сортування товару</a:t>
            </a:r>
            <a:endParaRPr lang="uk-UA" dirty="0"/>
          </a:p>
        </p:txBody>
      </p:sp>
      <p:sp>
        <p:nvSpPr>
          <p:cNvPr id="13" name="TextBox 12"/>
          <p:cNvSpPr txBox="1"/>
          <p:nvPr/>
        </p:nvSpPr>
        <p:spPr>
          <a:xfrm>
            <a:off x="251471" y="5156664"/>
            <a:ext cx="720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13 – фільтрування товару</a:t>
            </a:r>
            <a:endParaRPr lang="uk-U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88595"/>
            <a:ext cx="6332220" cy="685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1701165"/>
            <a:ext cx="5196840" cy="4648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" y="2853055"/>
            <a:ext cx="6324600" cy="1996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266" y="4581366"/>
            <a:ext cx="72114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15 – інвентаризація залишків</a:t>
            </a:r>
            <a:endParaRPr lang="uk-U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260985"/>
            <a:ext cx="6217920" cy="3947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649" y="1844546"/>
            <a:ext cx="51125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</a:t>
            </a:r>
            <a:r>
              <a:rPr lang="en-US" altLang="uk-UA" dirty="0"/>
              <a:t>6</a:t>
            </a:r>
            <a:r>
              <a:rPr lang="uk-UA" dirty="0"/>
              <a:t> – меню користувача без прав адміністратора</a:t>
            </a:r>
            <a:endParaRPr lang="uk-U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260985"/>
            <a:ext cx="3802380" cy="12725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-171400"/>
            <a:ext cx="7772400" cy="1470025"/>
          </a:xfrm>
        </p:spPr>
        <p:txBody>
          <a:bodyPr/>
          <a:lstStyle/>
          <a:p>
            <a:r>
              <a:rPr lang="uk-UA" sz="3600" b="1" dirty="0"/>
              <a:t>Висновок:</a:t>
            </a:r>
            <a:endParaRPr lang="ru-RU" sz="36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9022" y="908720"/>
            <a:ext cx="8856984" cy="5760640"/>
          </a:xfrm>
        </p:spPr>
        <p:txBody>
          <a:bodyPr>
            <a:noAutofit/>
          </a:bodyPr>
          <a:lstStyle/>
          <a:p>
            <a:pPr algn="l"/>
            <a:r>
              <a:rPr lang="en-US" altLang="en-US" sz="1400" dirty="0">
                <a:solidFill>
                  <a:schemeClr val="tx1"/>
                </a:solidFill>
              </a:rPr>
              <a:t>У результаті виконання курсового проєкту розроблена система управління базою автомобілів для комп’ютерів, які працюють під керуванням ОС Windows.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algn="l"/>
            <a:r>
              <a:rPr lang="en-US" altLang="en-US" sz="1400" dirty="0">
                <a:solidFill>
                  <a:schemeClr val="tx1"/>
                </a:solidFill>
              </a:rPr>
              <a:t>У розробленому </a:t>
            </a:r>
            <a:r>
              <a:rPr lang="en-US" altLang="en-US" sz="1400" dirty="0">
                <a:solidFill>
                  <a:schemeClr val="tx1"/>
                </a:solidFill>
              </a:rPr>
              <a:t>програмному забезпечені передбачено: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</a:rPr>
              <a:t>Подання даних користувачем у консолі.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Збереження даних у файл.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uk-UA" altLang="en-US" sz="14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Зчитування даних з файлу.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Додавання нових товарів.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Редагування доданих товарів.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Видалення товарів.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Перегляд всіх товарів.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Пошук товарів.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Сортування товарів.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Фільтрування товарів</a:t>
            </a:r>
            <a:r>
              <a:rPr lang="uk-UA" altLang="en-US" sz="1400" dirty="0">
                <a:solidFill>
                  <a:schemeClr val="tx1"/>
                </a:solidFill>
                <a:sym typeface="+mn-ea"/>
              </a:rPr>
              <a:t>.</a:t>
            </a:r>
            <a:endParaRPr lang="uk-UA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Оформлення покупки.</a:t>
            </a:r>
            <a:endParaRPr lang="en-US" altLang="en-US" sz="1400" dirty="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sym typeface="+mn-ea"/>
              </a:rPr>
              <a:t>Виведення інструкції (Help).</a:t>
            </a:r>
            <a:endParaRPr lang="en-US" altLang="en-US" sz="1400" dirty="0">
              <a:solidFill>
                <a:schemeClr val="tx1"/>
              </a:solidFill>
            </a:endParaRPr>
          </a:p>
          <a:p>
            <a:pPr algn="l"/>
            <a:r>
              <a:rPr lang="en-US" altLang="en-US" sz="1400" dirty="0">
                <a:solidFill>
                  <a:schemeClr val="tx1"/>
                </a:solidFill>
              </a:rPr>
              <a:t>Дана розробка у майбутньому може бути розширена із додаванням нового функціоналу і видозміненою логікою обробки.</a:t>
            </a:r>
            <a:endParaRPr lang="en-US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3511</Words>
  <Application>WPS Presentation</Application>
  <PresentationFormat>Екран (4:3)</PresentationFormat>
  <Paragraphs>103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Microsoft YaHei</vt:lpstr>
      <vt:lpstr>Arial Unicode MS</vt:lpstr>
      <vt:lpstr>Calibri</vt:lpstr>
      <vt:lpstr>Тема Office</vt:lpstr>
      <vt:lpstr>КУРСОВИЙ ПРОЄКТ на тему: Система втоматизації складу товарів</vt:lpstr>
      <vt:lpstr>Мета роботи та постановка задачі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Алгоритми роботи програми  </vt:lpstr>
      <vt:lpstr>PowerPoint 演示文稿</vt:lpstr>
      <vt:lpstr>PowerPoint 演示文稿</vt:lpstr>
      <vt:lpstr>Модулі (класи) програми  </vt:lpstr>
      <vt:lpstr>Вихідні дані до проєкту  </vt:lpstr>
      <vt:lpstr>Опис користувацького інтерфейсу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Висновок: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КУРСОВИЙ ПРОЄКТ на тему: Система управління базою замовлення страв в ресторані</dc:title>
  <dc:creator>Настя Яковенко</dc:creator>
  <cp:lastModifiedBy>Кирилюк Максим</cp:lastModifiedBy>
  <cp:revision>17</cp:revision>
  <dcterms:created xsi:type="dcterms:W3CDTF">2024-10-28T20:35:00Z</dcterms:created>
  <dcterms:modified xsi:type="dcterms:W3CDTF">2025-11-26T22:50:53Z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8ECE19A5CA034C2CBCE509874A59C30A_13</vt:lpwstr>
  </property>
  <property fmtid="{D5CDD505-2E9C-101B-9397-08002B2CF9AE}" pid="3" name="KSOProductBuildVer">
    <vt:lpwstr>1033-12.2.0.23155</vt:lpwstr>
  </property>
</Properties>
</file>